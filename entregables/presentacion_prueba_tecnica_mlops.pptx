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0FB332A1-D929-4FE8-A028-0E5CF5AEC7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B04393-F191-44C9-991D-863F934BC430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2905125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511"/>
          </a:bodyPr>
          <a:lstStyle/>
          <a:p>
            <a:pPr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Modelo de fraude</a:t>
            </a:r>
          </a:p>
          <a:p>
            <a:pPr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 producción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FD54CD4-069C-4965-A63B-263E85B79EB7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28575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500">
                <a:solidFill>
                  <a:srgbClr val="D8E8F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E8F0"/>
                </a:solidFill>
                <a:latin typeface="Arial"/>
                <a:ea typeface="Arial"/>
                <a:cs typeface="Arial"/>
              </a:rPr>
              <a:t>Arquitectura, gobierno,</a:t>
            </a:r>
          </a:p>
          <a:p>
            <a:pPr>
              <a:buNone/>
              <a:defRPr sz="1500">
                <a:solidFill>
                  <a:srgbClr val="D8E8F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8E8F0"/>
                </a:solidFill>
                <a:latin typeface="Arial"/>
                <a:ea typeface="Arial"/>
                <a:cs typeface="Arial"/>
              </a:rPr>
              <a:t>operación y consumo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ED8E7BF-97FF-43FB-AB5F-63CDAE2561CA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2190750" cy="381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041CBF7-4058-44B6-ABBD-C1457FB5E640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Prueba complementaria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E2A421E-A705-4C30-9360-03F9F67F5923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257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>
              <a:buNone/>
              <a:defRPr sz="975">
                <a:solidFill>
                  <a:srgbClr val="D8E8F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D8E8F0"/>
                </a:solidFill>
                <a:latin typeface="Arial"/>
                <a:ea typeface="Arial"/>
                <a:cs typeface="Arial"/>
              </a:rPr>
              <a:t>Sustentación máxima 15 minutos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EBE6292-3396-42D3-A8B9-31EBB982FC1D}"/>
              </a:ext>
            </a:extLst>
          </p:cNvPr>
          <p:cNvSpPr>
            <a:spLocks noGrp="1"/>
          </p:cNvSpPr>
          <p:nvPr/>
        </p:nvSpPr>
        <p:spPr>
          <a:xfrm>
            <a:off x="4857750" y="119062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658C959-EAE9-4A20-AF6F-00AF3A91C541}"/>
              </a:ext>
            </a:extLst>
          </p:cNvPr>
          <p:cNvSpPr>
            <a:spLocks noGrp="1"/>
          </p:cNvSpPr>
          <p:nvPr/>
        </p:nvSpPr>
        <p:spPr>
          <a:xfrm>
            <a:off x="4857750" y="1619250"/>
            <a:ext cx="62865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2550" b="1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E"/>
                </a:solidFill>
                <a:latin typeface="Arial"/>
                <a:ea typeface="Arial"/>
                <a:cs typeface="Arial"/>
              </a:rPr>
              <a:t>Convertir un modelo aprobado en un servicio confiable para el negocio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5DCF51D-178E-4DBF-8FEC-4FFFB412034D}"/>
              </a:ext>
            </a:extLst>
          </p:cNvPr>
          <p:cNvSpPr>
            <a:spLocks noGrp="1"/>
          </p:cNvSpPr>
          <p:nvPr/>
        </p:nvSpPr>
        <p:spPr>
          <a:xfrm>
            <a:off x="4857750" y="2905125"/>
            <a:ext cx="61912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50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B75"/>
                </a:solidFill>
                <a:latin typeface="Arial"/>
                <a:ea typeface="Arial"/>
                <a:cs typeface="Arial"/>
              </a:rPr>
              <a:t>La solución debe procesar tres millones de reclamaciones al mes y atender investigadores de fraude y sistemas transaccionales.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422BBF2-23F1-4008-85A5-C17009FF3D32}"/>
              </a:ext>
            </a:extLst>
          </p:cNvPr>
          <p:cNvSpPr>
            <a:spLocks noGrp="1"/>
          </p:cNvSpPr>
          <p:nvPr/>
        </p:nvSpPr>
        <p:spPr>
          <a:xfrm>
            <a:off x="4810125" y="433387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722"/>
          </a:bodyPr>
          <a:lstStyle/>
          <a:p>
            <a:pPr>
              <a:buNone/>
              <a:defRPr sz="180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EAFEAC4-7B04-49A8-B183-AA02FE907FFC}"/>
              </a:ext>
            </a:extLst>
          </p:cNvPr>
          <p:cNvSpPr>
            <a:spLocks noGrp="1"/>
          </p:cNvSpPr>
          <p:nvPr/>
        </p:nvSpPr>
        <p:spPr>
          <a:xfrm>
            <a:off x="4810125" y="46863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Puesta en producción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528B47B-777B-4D7F-9C4B-A8E7D9EB5F3A}"/>
              </a:ext>
            </a:extLst>
          </p:cNvPr>
          <p:cNvSpPr>
            <a:spLocks noGrp="1"/>
          </p:cNvSpPr>
          <p:nvPr/>
        </p:nvSpPr>
        <p:spPr>
          <a:xfrm>
            <a:off x="6524625" y="433387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722"/>
          </a:bodyPr>
          <a:lstStyle/>
          <a:p>
            <a:pPr>
              <a:buNone/>
              <a:defRPr sz="180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A9BBB08-CF5D-4B5C-B7C3-B43DF3977133}"/>
              </a:ext>
            </a:extLst>
          </p:cNvPr>
          <p:cNvSpPr>
            <a:spLocks noGrp="1"/>
          </p:cNvSpPr>
          <p:nvPr/>
        </p:nvSpPr>
        <p:spPr>
          <a:xfrm>
            <a:off x="6524625" y="46863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MLOps y gobierno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913B3A3-E821-490E-A7BE-4102837D33D4}"/>
              </a:ext>
            </a:extLst>
          </p:cNvPr>
          <p:cNvSpPr>
            <a:spLocks noGrp="1"/>
          </p:cNvSpPr>
          <p:nvPr/>
        </p:nvSpPr>
        <p:spPr>
          <a:xfrm>
            <a:off x="8239125" y="433387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722"/>
          </a:bodyPr>
          <a:lstStyle/>
          <a:p>
            <a:pPr>
              <a:buNone/>
              <a:defRPr sz="180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AE7A6A8-2B53-465D-BB32-FA8C100D451D}"/>
              </a:ext>
            </a:extLst>
          </p:cNvPr>
          <p:cNvSpPr>
            <a:spLocks noGrp="1"/>
          </p:cNvSpPr>
          <p:nvPr/>
        </p:nvSpPr>
        <p:spPr>
          <a:xfrm>
            <a:off x="8239125" y="46863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Monitoreo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3075F97-A9D1-4782-B2FE-22888D1F29EE}"/>
              </a:ext>
            </a:extLst>
          </p:cNvPr>
          <p:cNvSpPr>
            <a:spLocks noGrp="1"/>
          </p:cNvSpPr>
          <p:nvPr/>
        </p:nvSpPr>
        <p:spPr>
          <a:xfrm>
            <a:off x="9953625" y="433387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722"/>
          </a:bodyPr>
          <a:lstStyle/>
          <a:p>
            <a:pPr>
              <a:buNone/>
              <a:defRPr sz="1800" b="1">
                <a:solidFill>
                  <a:srgbClr val="A76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76A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639AAF6-3BF9-45BF-8FD9-719F6A44257A}"/>
              </a:ext>
            </a:extLst>
          </p:cNvPr>
          <p:cNvSpPr>
            <a:spLocks noGrp="1"/>
          </p:cNvSpPr>
          <p:nvPr/>
        </p:nvSpPr>
        <p:spPr>
          <a:xfrm>
            <a:off x="9953625" y="4686300"/>
            <a:ext cx="152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Consumo</a:t>
            </a:r>
          </a:p>
        </p:txBody>
      </p:sp>
    </p:spTree>
    <p:extLst>
      <p:ext uri="{BB962C8B-B14F-4D97-AF65-F5344CB8AC3E}">
        <p14:creationId xmlns:p14="http://schemas.microsoft.com/office/powerpoint/2010/main" val="953680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F94A740B-7706-47C8-973D-00EA78DE80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CCADB7-6C31-4DA4-8F6B-A6FB20D63799}"/>
              </a:ext>
            </a:extLst>
          </p:cNvPr>
          <p:cNvSpPr>
            <a:spLocks noGrp="1"/>
          </p:cNvSpPr>
          <p:nvPr/>
        </p:nvSpPr>
        <p:spPr>
          <a:xfrm>
            <a:off x="495300" y="2571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>
              <a:buNone/>
              <a:defRPr sz="82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Conceptos clave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F8CC268-06CC-4318-8F13-7ED36F99AF2D}"/>
              </a:ext>
            </a:extLst>
          </p:cNvPr>
          <p:cNvSpPr>
            <a:spLocks noGrp="1"/>
          </p:cNvSpPr>
          <p:nvPr/>
        </p:nvSpPr>
        <p:spPr>
          <a:xfrm>
            <a:off x="11239500" y="247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900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3A71017-1633-4DE9-9CAE-84376FE2DCAE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550" b="1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E"/>
                </a:solidFill>
                <a:latin typeface="Arial"/>
                <a:ea typeface="Arial"/>
                <a:cs typeface="Arial"/>
              </a:rPr>
              <a:t>Lenguaje común de la presentación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1BF400-307C-4AE9-BF91-666B716738E5}"/>
              </a:ext>
            </a:extLst>
          </p:cNvPr>
          <p:cNvSpPr>
            <a:spLocks noGrp="1"/>
          </p:cNvSpPr>
          <p:nvPr/>
        </p:nvSpPr>
        <p:spPr>
          <a:xfrm>
            <a:off x="514350" y="11144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B75"/>
                </a:solidFill>
                <a:latin typeface="Arial"/>
                <a:ea typeface="Arial"/>
                <a:cs typeface="Arial"/>
              </a:rPr>
              <a:t>Estas definiciones conectan puesta en producción, gobierno, monitoreo y consumo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CD2B5B3-E6B0-4627-BD85-65FBAB0FD953}"/>
              </a:ext>
            </a:extLst>
          </p:cNvPr>
          <p:cNvSpPr>
            <a:spLocks noGrp="1"/>
          </p:cNvSpPr>
          <p:nvPr/>
        </p:nvSpPr>
        <p:spPr>
          <a:xfrm>
            <a:off x="495300" y="652462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>
              <a:buNone/>
              <a:defRPr sz="6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D6B75"/>
                </a:solidFill>
                <a:latin typeface="Arial"/>
                <a:ea typeface="Arial"/>
                <a:cs typeface="Arial"/>
              </a:rPr>
              <a:t>Prueba complementaria de Machine Learning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9DBFB10-4779-48B4-8B87-0428722D4EE6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3286125" cy="3429000"/>
          </a:xfrm>
          <a:prstGeom prst="rect">
            <a:avLst/>
          </a:prstGeom>
          <a:solidFill>
            <a:srgbClr val="E8EEF4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2B55225-949B-4528-ADB7-BDA600E97DE2}"/>
              </a:ext>
            </a:extLst>
          </p:cNvPr>
          <p:cNvSpPr>
            <a:spLocks noGrp="1"/>
          </p:cNvSpPr>
          <p:nvPr/>
        </p:nvSpPr>
        <p:spPr>
          <a:xfrm>
            <a:off x="866775" y="2047875"/>
            <a:ext cx="27908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>
              <a:buNone/>
              <a:defRPr sz="15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Ciclo del modelo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B3F333F-C1D2-476B-ACA4-0B62C16407FE}"/>
              </a:ext>
            </a:extLst>
          </p:cNvPr>
          <p:cNvSpPr>
            <a:spLocks noGrp="1"/>
          </p:cNvSpPr>
          <p:nvPr/>
        </p:nvSpPr>
        <p:spPr>
          <a:xfrm>
            <a:off x="866775" y="26479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Champion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40FBCA-122A-4148-B080-9E50BD5E190C}"/>
              </a:ext>
            </a:extLst>
          </p:cNvPr>
          <p:cNvSpPr>
            <a:spLocks noGrp="1"/>
          </p:cNvSpPr>
          <p:nvPr/>
        </p:nvSpPr>
        <p:spPr>
          <a:xfrm>
            <a:off x="866775" y="2933700"/>
            <a:ext cx="27622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Versión aprobada que usa producción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F496DC0-34C8-463E-8619-AB1C2B15D7F7}"/>
              </a:ext>
            </a:extLst>
          </p:cNvPr>
          <p:cNvSpPr>
            <a:spLocks noGrp="1"/>
          </p:cNvSpPr>
          <p:nvPr/>
        </p:nvSpPr>
        <p:spPr>
          <a:xfrm>
            <a:off x="866775" y="34861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80142A5-9A2E-4A0D-9046-9E33E903E3E8}"/>
              </a:ext>
            </a:extLst>
          </p:cNvPr>
          <p:cNvSpPr>
            <a:spLocks noGrp="1"/>
          </p:cNvSpPr>
          <p:nvPr/>
        </p:nvSpPr>
        <p:spPr>
          <a:xfrm>
            <a:off x="866775" y="3771900"/>
            <a:ext cx="27622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Nueva versión pendiente de validación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65AC412-1974-4FC7-862E-ED33AC2AB6C4}"/>
              </a:ext>
            </a:extLst>
          </p:cNvPr>
          <p:cNvSpPr>
            <a:spLocks noGrp="1"/>
          </p:cNvSpPr>
          <p:nvPr/>
        </p:nvSpPr>
        <p:spPr>
          <a:xfrm>
            <a:off x="866775" y="43243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Alias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FD802FF-1C97-4658-BF9C-1DF30216DC08}"/>
              </a:ext>
            </a:extLst>
          </p:cNvPr>
          <p:cNvSpPr>
            <a:spLocks noGrp="1"/>
          </p:cNvSpPr>
          <p:nvPr/>
        </p:nvSpPr>
        <p:spPr>
          <a:xfrm>
            <a:off x="866775" y="4610100"/>
            <a:ext cx="27622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Nombre estable que apunta a una versión física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2FEEE0D-52E9-4944-B8A1-09F3009FB3D2}"/>
              </a:ext>
            </a:extLst>
          </p:cNvPr>
          <p:cNvSpPr>
            <a:spLocks noGrp="1"/>
          </p:cNvSpPr>
          <p:nvPr/>
        </p:nvSpPr>
        <p:spPr>
          <a:xfrm>
            <a:off x="4381500" y="1809750"/>
            <a:ext cx="3286125" cy="3429000"/>
          </a:xfrm>
          <a:prstGeom prst="rect">
            <a:avLst/>
          </a:prstGeom>
          <a:solidFill>
            <a:srgbClr val="E4F1F0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B21A343-10D1-4145-B4D8-53D56975EB97}"/>
              </a:ext>
            </a:extLst>
          </p:cNvPr>
          <p:cNvSpPr>
            <a:spLocks noGrp="1"/>
          </p:cNvSpPr>
          <p:nvPr/>
        </p:nvSpPr>
        <p:spPr>
          <a:xfrm>
            <a:off x="4629150" y="2047875"/>
            <a:ext cx="27908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>
              <a:buNone/>
              <a:defRPr sz="157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Ejecución reproducible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2D35DCD-6C9D-41AB-ACE8-FFA08FFBCE4F}"/>
              </a:ext>
            </a:extLst>
          </p:cNvPr>
          <p:cNvSpPr>
            <a:spLocks noGrp="1"/>
          </p:cNvSpPr>
          <p:nvPr/>
        </p:nvSpPr>
        <p:spPr>
          <a:xfrm>
            <a:off x="4629150" y="26479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MLflow run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2CD4F4D-E986-4D2E-A00B-21D796F434AE}"/>
              </a:ext>
            </a:extLst>
          </p:cNvPr>
          <p:cNvSpPr>
            <a:spLocks noGrp="1"/>
          </p:cNvSpPr>
          <p:nvPr/>
        </p:nvSpPr>
        <p:spPr>
          <a:xfrm>
            <a:off x="4629150" y="2933700"/>
            <a:ext cx="27622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Ejecución con parámetros, métricas y artefactos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7572BA2-13A4-42E4-B835-2EC438D4F394}"/>
              </a:ext>
            </a:extLst>
          </p:cNvPr>
          <p:cNvSpPr>
            <a:spLocks noGrp="1"/>
          </p:cNvSpPr>
          <p:nvPr/>
        </p:nvSpPr>
        <p:spPr>
          <a:xfrm>
            <a:off x="4629150" y="34861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Contrato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A1F1792-A9AF-473D-A491-4344B1885EA5}"/>
              </a:ext>
            </a:extLst>
          </p:cNvPr>
          <p:cNvSpPr>
            <a:spLocks noGrp="1"/>
          </p:cNvSpPr>
          <p:nvPr/>
        </p:nvSpPr>
        <p:spPr>
          <a:xfrm>
            <a:off x="4629150" y="3771900"/>
            <a:ext cx="27622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Esquema acordado de entradas y salidas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75C6CDA-045B-4060-A7F2-7946153EE5E7}"/>
              </a:ext>
            </a:extLst>
          </p:cNvPr>
          <p:cNvSpPr>
            <a:spLocks noGrp="1"/>
          </p:cNvSpPr>
          <p:nvPr/>
        </p:nvSpPr>
        <p:spPr>
          <a:xfrm>
            <a:off x="4629150" y="43243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Idempotencia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9E2B88E-9932-4059-AA77-6703B4ED003D}"/>
              </a:ext>
            </a:extLst>
          </p:cNvPr>
          <p:cNvSpPr>
            <a:spLocks noGrp="1"/>
          </p:cNvSpPr>
          <p:nvPr/>
        </p:nvSpPr>
        <p:spPr>
          <a:xfrm>
            <a:off x="4629150" y="4610100"/>
            <a:ext cx="27622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Repetir un proceso sin duplicar resultados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2E263B1-8AF4-4673-90A4-4CE961613099}"/>
              </a:ext>
            </a:extLst>
          </p:cNvPr>
          <p:cNvSpPr>
            <a:spLocks noGrp="1"/>
          </p:cNvSpPr>
          <p:nvPr/>
        </p:nvSpPr>
        <p:spPr>
          <a:xfrm>
            <a:off x="8143875" y="1809750"/>
            <a:ext cx="3286125" cy="3429000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C352F0C-516D-43C3-B318-59783EF477C2}"/>
              </a:ext>
            </a:extLst>
          </p:cNvPr>
          <p:cNvSpPr>
            <a:spLocks noGrp="1"/>
          </p:cNvSpPr>
          <p:nvPr/>
        </p:nvSpPr>
        <p:spPr>
          <a:xfrm>
            <a:off x="8391525" y="2047875"/>
            <a:ext cx="27908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>
              <a:buNone/>
              <a:defRPr sz="1575" b="1">
                <a:solidFill>
                  <a:srgbClr val="A76A1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76A12"/>
                </a:solidFill>
                <a:latin typeface="Arial"/>
                <a:ea typeface="Arial"/>
                <a:cs typeface="Arial"/>
              </a:rPr>
              <a:t>Cambio controlado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7F301A6-1EAE-4E20-B9B1-0E63708AFD41}"/>
              </a:ext>
            </a:extLst>
          </p:cNvPr>
          <p:cNvSpPr>
            <a:spLocks noGrp="1"/>
          </p:cNvSpPr>
          <p:nvPr/>
        </p:nvSpPr>
        <p:spPr>
          <a:xfrm>
            <a:off x="8391525" y="26479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Drift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BC775F4-A0C5-4028-8CE9-AB0921375169}"/>
              </a:ext>
            </a:extLst>
          </p:cNvPr>
          <p:cNvSpPr>
            <a:spLocks noGrp="1"/>
          </p:cNvSpPr>
          <p:nvPr/>
        </p:nvSpPr>
        <p:spPr>
          <a:xfrm>
            <a:off x="8391525" y="2933700"/>
            <a:ext cx="27622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Cambio en datos o predicciones frente a la referencia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4C6E8DD-8348-49F3-B86A-19F5E7CF2735}"/>
              </a:ext>
            </a:extLst>
          </p:cNvPr>
          <p:cNvSpPr>
            <a:spLocks noGrp="1"/>
          </p:cNvSpPr>
          <p:nvPr/>
        </p:nvSpPr>
        <p:spPr>
          <a:xfrm>
            <a:off x="8391525" y="34861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Rollback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1D6B8B3-40D8-4B0F-A83C-8BD34402ABE5}"/>
              </a:ext>
            </a:extLst>
          </p:cNvPr>
          <p:cNvSpPr>
            <a:spLocks noGrp="1"/>
          </p:cNvSpPr>
          <p:nvPr/>
        </p:nvSpPr>
        <p:spPr>
          <a:xfrm>
            <a:off x="8391525" y="3771900"/>
            <a:ext cx="27622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Restaurar una versión conocida sin reentrenar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C4DC63D-0D9F-431F-A455-39B33D7536C8}"/>
              </a:ext>
            </a:extLst>
          </p:cNvPr>
          <p:cNvSpPr>
            <a:spLocks noGrp="1"/>
          </p:cNvSpPr>
          <p:nvPr/>
        </p:nvSpPr>
        <p:spPr>
          <a:xfrm>
            <a:off x="1428750" y="57150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B75"/>
                </a:solidFill>
                <a:latin typeface="Arial"/>
                <a:ea typeface="Arial"/>
                <a:cs typeface="Arial"/>
              </a:rPr>
              <a:t>Los consumidores usan aliases y contratos; los equipos técnicos conservan versiones, runs y evidencia.</a:t>
            </a:r>
          </a:p>
        </p:txBody>
      </p:sp>
    </p:spTree>
    <p:extLst>
      <p:ext uri="{BB962C8B-B14F-4D97-AF65-F5344CB8AC3E}">
        <p14:creationId xmlns:p14="http://schemas.microsoft.com/office/powerpoint/2010/main" val="69693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ángulo 41">
            <a:extLst>
              <a:ext uri="{FF2B5EF4-FFF2-40B4-BE49-F238E27FC236}">
                <a16:creationId xmlns:a16="http://schemas.microsoft.com/office/drawing/2014/main" id="{20EF9925-DEB2-4EF0-918F-4E52BF84B3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D2F1985-962C-460C-B991-262913F6CDFB}"/>
              </a:ext>
            </a:extLst>
          </p:cNvPr>
          <p:cNvSpPr>
            <a:spLocks noGrp="1"/>
          </p:cNvSpPr>
          <p:nvPr/>
        </p:nvSpPr>
        <p:spPr>
          <a:xfrm>
            <a:off x="495300" y="2571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>
              <a:buNone/>
              <a:defRPr sz="82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Ejercicio 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FA3E7D1-F9D4-40A6-ADE8-67B57CCA1746}"/>
              </a:ext>
            </a:extLst>
          </p:cNvPr>
          <p:cNvSpPr>
            <a:spLocks noGrp="1"/>
          </p:cNvSpPr>
          <p:nvPr/>
        </p:nvSpPr>
        <p:spPr>
          <a:xfrm>
            <a:off x="11239500" y="247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900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8EAD11B-5D7C-42AC-92F9-B92AC7D531B4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550" b="1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E"/>
                </a:solidFill>
                <a:latin typeface="Arial"/>
                <a:ea typeface="Arial"/>
                <a:cs typeface="Arial"/>
              </a:rPr>
              <a:t>Arquitectura conceptual de puesta en producción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EB9D312-64C4-4F2B-86FD-F47AA7D77362}"/>
              </a:ext>
            </a:extLst>
          </p:cNvPr>
          <p:cNvSpPr>
            <a:spLocks noGrp="1"/>
          </p:cNvSpPr>
          <p:nvPr/>
        </p:nvSpPr>
        <p:spPr>
          <a:xfrm>
            <a:off x="514350" y="11144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B75"/>
                </a:solidFill>
                <a:latin typeface="Arial"/>
                <a:ea typeface="Arial"/>
                <a:cs typeface="Arial"/>
              </a:rPr>
              <a:t>Las capacidades definen el diseño; los servicios de Azure y Databricks lo implementan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DD840D8-3F19-4DDD-B71C-78463F649351}"/>
              </a:ext>
            </a:extLst>
          </p:cNvPr>
          <p:cNvSpPr>
            <a:spLocks noGrp="1"/>
          </p:cNvSpPr>
          <p:nvPr/>
        </p:nvSpPr>
        <p:spPr>
          <a:xfrm>
            <a:off x="495300" y="652462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>
              <a:buNone/>
              <a:defRPr sz="6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D6B75"/>
                </a:solidFill>
                <a:latin typeface="Arial"/>
                <a:ea typeface="Arial"/>
                <a:cs typeface="Arial"/>
              </a:rPr>
              <a:t>Prueba complementaria de Machine Learning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22293C4-2CC1-4108-89C9-A5998292FE9B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1619250" cy="1219200"/>
          </a:xfrm>
          <a:prstGeom prst="rect">
            <a:avLst/>
          </a:prstGeom>
          <a:solidFill>
            <a:srgbClr val="E8EEF4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F6E80AA-9CC1-4C9F-A3BC-77F22F8A09A0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66675" cy="12192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1B3F711-F3D9-4BB2-9ECA-FE6F67C5AE12}"/>
              </a:ext>
            </a:extLst>
          </p:cNvPr>
          <p:cNvSpPr>
            <a:spLocks noGrp="1"/>
          </p:cNvSpPr>
          <p:nvPr/>
        </p:nvSpPr>
        <p:spPr>
          <a:xfrm>
            <a:off x="647700" y="2066925"/>
            <a:ext cx="12954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Fuentes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B65B774-6B81-4443-82DC-CC367BF0EBDE}"/>
              </a:ext>
            </a:extLst>
          </p:cNvPr>
          <p:cNvSpPr>
            <a:spLocks noGrp="1"/>
          </p:cNvSpPr>
          <p:nvPr/>
        </p:nvSpPr>
        <p:spPr>
          <a:xfrm>
            <a:off x="647700" y="2352675"/>
            <a:ext cx="12954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Core de seguros</a:t>
            </a:r>
          </a:p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Archivos, APIs</a:t>
            </a:r>
          </a:p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y eventos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40ED0725-8157-4C6D-94AE-F16366CE3AFD}"/>
              </a:ext>
            </a:extLst>
          </p:cNvPr>
          <p:cNvSpPr>
            <a:spLocks noGrp="1"/>
          </p:cNvSpPr>
          <p:nvPr/>
        </p:nvSpPr>
        <p:spPr>
          <a:xfrm>
            <a:off x="2133600" y="2390775"/>
            <a:ext cx="304800" cy="24765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517B546-310E-4E91-A561-6BC7D25DD834}"/>
              </a:ext>
            </a:extLst>
          </p:cNvPr>
          <p:cNvSpPr>
            <a:spLocks noGrp="1"/>
          </p:cNvSpPr>
          <p:nvPr/>
        </p:nvSpPr>
        <p:spPr>
          <a:xfrm>
            <a:off x="2514600" y="1952625"/>
            <a:ext cx="17145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68D9F2D-E4DC-4E09-90AA-9DE750176759}"/>
              </a:ext>
            </a:extLst>
          </p:cNvPr>
          <p:cNvSpPr>
            <a:spLocks noGrp="1"/>
          </p:cNvSpPr>
          <p:nvPr/>
        </p:nvSpPr>
        <p:spPr>
          <a:xfrm>
            <a:off x="2514600" y="1952625"/>
            <a:ext cx="66675" cy="12192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93DAC71-7595-4118-8CC1-925FCF10DEDB}"/>
              </a:ext>
            </a:extLst>
          </p:cNvPr>
          <p:cNvSpPr>
            <a:spLocks noGrp="1"/>
          </p:cNvSpPr>
          <p:nvPr/>
        </p:nvSpPr>
        <p:spPr>
          <a:xfrm>
            <a:off x="2705100" y="2066925"/>
            <a:ext cx="13906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Ingesta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CC82A1C-F123-46A6-BB0B-4C9DB0A2A5AB}"/>
              </a:ext>
            </a:extLst>
          </p:cNvPr>
          <p:cNvSpPr>
            <a:spLocks noGrp="1"/>
          </p:cNvSpPr>
          <p:nvPr/>
        </p:nvSpPr>
        <p:spPr>
          <a:xfrm>
            <a:off x="2705100" y="2352675"/>
            <a:ext cx="13906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Batch y eventos</a:t>
            </a:r>
          </a:p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Data Factory / Event Hubs</a:t>
            </a: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85F263D7-7919-4456-8246-179B84B85E37}"/>
              </a:ext>
            </a:extLst>
          </p:cNvPr>
          <p:cNvSpPr>
            <a:spLocks noGrp="1"/>
          </p:cNvSpPr>
          <p:nvPr/>
        </p:nvSpPr>
        <p:spPr>
          <a:xfrm>
            <a:off x="4286250" y="2390775"/>
            <a:ext cx="304800" cy="24765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8D34F2A-A74E-45FA-98D3-4002B8F3182A}"/>
              </a:ext>
            </a:extLst>
          </p:cNvPr>
          <p:cNvSpPr>
            <a:spLocks noGrp="1"/>
          </p:cNvSpPr>
          <p:nvPr/>
        </p:nvSpPr>
        <p:spPr>
          <a:xfrm>
            <a:off x="4667250" y="1952625"/>
            <a:ext cx="1809750" cy="1219200"/>
          </a:xfrm>
          <a:prstGeom prst="rect">
            <a:avLst/>
          </a:prstGeom>
          <a:solidFill>
            <a:srgbClr val="E4F1F0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9DABCD8-4C9A-439B-AF71-EC8B72E6568F}"/>
              </a:ext>
            </a:extLst>
          </p:cNvPr>
          <p:cNvSpPr>
            <a:spLocks noGrp="1"/>
          </p:cNvSpPr>
          <p:nvPr/>
        </p:nvSpPr>
        <p:spPr>
          <a:xfrm>
            <a:off x="4667250" y="1952625"/>
            <a:ext cx="66675" cy="12192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C2ADC9B-5140-4607-B4DD-12C78263AEE9}"/>
              </a:ext>
            </a:extLst>
          </p:cNvPr>
          <p:cNvSpPr>
            <a:spLocks noGrp="1"/>
          </p:cNvSpPr>
          <p:nvPr/>
        </p:nvSpPr>
        <p:spPr>
          <a:xfrm>
            <a:off x="4857750" y="2066925"/>
            <a:ext cx="1485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Lakehouse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671D543-DF35-4E93-97F1-C1ED7ADBADD6}"/>
              </a:ext>
            </a:extLst>
          </p:cNvPr>
          <p:cNvSpPr>
            <a:spLocks noGrp="1"/>
          </p:cNvSpPr>
          <p:nvPr/>
        </p:nvSpPr>
        <p:spPr>
          <a:xfrm>
            <a:off x="4857750" y="2352675"/>
            <a:ext cx="14859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ADLS Gen2 + Delta</a:t>
            </a:r>
          </a:p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Bronze, Silver y Gold</a:t>
            </a:r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343DD50A-A275-4DA0-8737-739BE41BEA8C}"/>
              </a:ext>
            </a:extLst>
          </p:cNvPr>
          <p:cNvSpPr>
            <a:spLocks noGrp="1"/>
          </p:cNvSpPr>
          <p:nvPr/>
        </p:nvSpPr>
        <p:spPr>
          <a:xfrm>
            <a:off x="6534150" y="2390775"/>
            <a:ext cx="304800" cy="24765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6B3C19E-6BAB-487C-9684-D2E982F1DECC}"/>
              </a:ext>
            </a:extLst>
          </p:cNvPr>
          <p:cNvSpPr>
            <a:spLocks noGrp="1"/>
          </p:cNvSpPr>
          <p:nvPr/>
        </p:nvSpPr>
        <p:spPr>
          <a:xfrm>
            <a:off x="6915150" y="1952625"/>
            <a:ext cx="2000250" cy="1219200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6B46846-F685-4A21-95F9-695B37D734A0}"/>
              </a:ext>
            </a:extLst>
          </p:cNvPr>
          <p:cNvSpPr>
            <a:spLocks noGrp="1"/>
          </p:cNvSpPr>
          <p:nvPr/>
        </p:nvSpPr>
        <p:spPr>
          <a:xfrm>
            <a:off x="6915150" y="1952625"/>
            <a:ext cx="66675" cy="12192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82E87F1-F66B-4143-8A7E-8134DB2B78FA}"/>
              </a:ext>
            </a:extLst>
          </p:cNvPr>
          <p:cNvSpPr>
            <a:spLocks noGrp="1"/>
          </p:cNvSpPr>
          <p:nvPr/>
        </p:nvSpPr>
        <p:spPr>
          <a:xfrm>
            <a:off x="7105650" y="2066925"/>
            <a:ext cx="16764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Scoring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995444E-46AF-4A73-B624-864E53F902A5}"/>
              </a:ext>
            </a:extLst>
          </p:cNvPr>
          <p:cNvSpPr>
            <a:spLocks noGrp="1"/>
          </p:cNvSpPr>
          <p:nvPr/>
        </p:nvSpPr>
        <p:spPr>
          <a:xfrm>
            <a:off x="7105650" y="2352675"/>
            <a:ext cx="16764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Azure Databricks</a:t>
            </a:r>
          </a:p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Workflows, Spark y Champion</a:t>
            </a:r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7E150495-94D0-4BE8-9963-0628298AC606}"/>
              </a:ext>
            </a:extLst>
          </p:cNvPr>
          <p:cNvSpPr>
            <a:spLocks noGrp="1"/>
          </p:cNvSpPr>
          <p:nvPr/>
        </p:nvSpPr>
        <p:spPr>
          <a:xfrm>
            <a:off x="8972550" y="2390775"/>
            <a:ext cx="304800" cy="24765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2C4B271-CFDB-4A28-981A-051116FCB2D8}"/>
              </a:ext>
            </a:extLst>
          </p:cNvPr>
          <p:cNvSpPr>
            <a:spLocks noGrp="1"/>
          </p:cNvSpPr>
          <p:nvPr/>
        </p:nvSpPr>
        <p:spPr>
          <a:xfrm>
            <a:off x="9353550" y="1619250"/>
            <a:ext cx="2238375" cy="904875"/>
          </a:xfrm>
          <a:prstGeom prst="rect">
            <a:avLst/>
          </a:prstGeom>
          <a:solidFill>
            <a:srgbClr val="E4F1F0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85442F1-B4C9-42A0-B2FA-C8232FF553EE}"/>
              </a:ext>
            </a:extLst>
          </p:cNvPr>
          <p:cNvSpPr>
            <a:spLocks noGrp="1"/>
          </p:cNvSpPr>
          <p:nvPr/>
        </p:nvSpPr>
        <p:spPr>
          <a:xfrm>
            <a:off x="9353550" y="1619250"/>
            <a:ext cx="66675" cy="904875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A6E0F3C-D237-41AC-B670-ECDFCB6DC3D8}"/>
              </a:ext>
            </a:extLst>
          </p:cNvPr>
          <p:cNvSpPr>
            <a:spLocks noGrp="1"/>
          </p:cNvSpPr>
          <p:nvPr/>
        </p:nvSpPr>
        <p:spPr>
          <a:xfrm>
            <a:off x="9544050" y="1733550"/>
            <a:ext cx="19145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Despliegue batch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77F3F54-C9D0-470F-958D-30C31D089C9E}"/>
              </a:ext>
            </a:extLst>
          </p:cNvPr>
          <p:cNvSpPr>
            <a:spLocks noGrp="1"/>
          </p:cNvSpPr>
          <p:nvPr/>
        </p:nvSpPr>
        <p:spPr>
          <a:xfrm>
            <a:off x="9544050" y="2019300"/>
            <a:ext cx="19145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Workflows, Delta, SQL</a:t>
            </a:r>
          </a:p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y herramientas analíticas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B46ECFF-9F3B-4C35-A57B-B1CED6F71653}"/>
              </a:ext>
            </a:extLst>
          </p:cNvPr>
          <p:cNvSpPr>
            <a:spLocks noGrp="1"/>
          </p:cNvSpPr>
          <p:nvPr/>
        </p:nvSpPr>
        <p:spPr>
          <a:xfrm>
            <a:off x="9353550" y="2714625"/>
            <a:ext cx="2238375" cy="904875"/>
          </a:xfrm>
          <a:prstGeom prst="rect">
            <a:avLst/>
          </a:prstGeom>
          <a:solidFill>
            <a:srgbClr val="E8EEF4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9E630E8-4F89-426C-AA3A-42F08EAF2DE6}"/>
              </a:ext>
            </a:extLst>
          </p:cNvPr>
          <p:cNvSpPr>
            <a:spLocks noGrp="1"/>
          </p:cNvSpPr>
          <p:nvPr/>
        </p:nvSpPr>
        <p:spPr>
          <a:xfrm>
            <a:off x="9353550" y="2714625"/>
            <a:ext cx="66675" cy="904875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8AB60E0-EBF0-454C-8D9A-370AEA774844}"/>
              </a:ext>
            </a:extLst>
          </p:cNvPr>
          <p:cNvSpPr>
            <a:spLocks noGrp="1"/>
          </p:cNvSpPr>
          <p:nvPr/>
        </p:nvSpPr>
        <p:spPr>
          <a:xfrm>
            <a:off x="9544050" y="2828925"/>
            <a:ext cx="19145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Despliegue online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D875926-5FE5-4FC2-9B6D-D0EE6C30DF50}"/>
              </a:ext>
            </a:extLst>
          </p:cNvPr>
          <p:cNvSpPr>
            <a:spLocks noGrp="1"/>
          </p:cNvSpPr>
          <p:nvPr/>
        </p:nvSpPr>
        <p:spPr>
          <a:xfrm>
            <a:off x="9544050" y="3114675"/>
            <a:ext cx="19145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Model Serving, API</a:t>
            </a:r>
          </a:p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Management y sistemas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C2742140-5D38-4BAC-9757-23C31327767C}"/>
              </a:ext>
            </a:extLst>
          </p:cNvPr>
          <p:cNvSpPr>
            <a:spLocks noGrp="1"/>
          </p:cNvSpPr>
          <p:nvPr/>
        </p:nvSpPr>
        <p:spPr>
          <a:xfrm>
            <a:off x="457200" y="3905250"/>
            <a:ext cx="11134725" cy="62865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3F4BC1D-623B-48CA-8678-15C2A3740173}"/>
              </a:ext>
            </a:extLst>
          </p:cNvPr>
          <p:cNvSpPr>
            <a:spLocks noGrp="1"/>
          </p:cNvSpPr>
          <p:nvPr/>
        </p:nvSpPr>
        <p:spPr>
          <a:xfrm>
            <a:off x="762000" y="4067175"/>
            <a:ext cx="2143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Seguridad y gobierno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8250654-4567-4836-8AD9-3368D4FF21FD}"/>
              </a:ext>
            </a:extLst>
          </p:cNvPr>
          <p:cNvSpPr>
            <a:spLocks noGrp="1"/>
          </p:cNvSpPr>
          <p:nvPr/>
        </p:nvSpPr>
        <p:spPr>
          <a:xfrm>
            <a:off x="3143250" y="4067175"/>
            <a:ext cx="7810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>
                <a:solidFill>
                  <a:srgbClr val="DDEAF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DDEAF0"/>
                </a:solidFill>
                <a:latin typeface="Arial"/>
                <a:ea typeface="Arial"/>
                <a:cs typeface="Arial"/>
              </a:rPr>
              <a:t>Microsoft Entra ID     Key Vault     redes privadas     Unity Catalog     auditoría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9E137CEA-1DAF-4079-ACBB-62BE5B24D1AE}"/>
              </a:ext>
            </a:extLst>
          </p:cNvPr>
          <p:cNvSpPr>
            <a:spLocks noGrp="1"/>
          </p:cNvSpPr>
          <p:nvPr/>
        </p:nvSpPr>
        <p:spPr>
          <a:xfrm>
            <a:off x="457200" y="4762500"/>
            <a:ext cx="11134725" cy="628650"/>
          </a:xfrm>
          <a:prstGeom prst="rect">
            <a:avLst/>
          </a:prstGeom>
          <a:solidFill>
            <a:srgbClr val="E4F1F0"/>
          </a:solidFill>
          <a:ln w="9525">
            <a:solidFill>
              <a:srgbClr val="0B6E75"/>
            </a:solidFill>
            <a:prstDash val="solid"/>
          </a:ln>
        </p:spPr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51E100CE-6E4B-4708-BF8E-E1295EC410D7}"/>
              </a:ext>
            </a:extLst>
          </p:cNvPr>
          <p:cNvSpPr>
            <a:spLocks noGrp="1"/>
          </p:cNvSpPr>
          <p:nvPr/>
        </p:nvSpPr>
        <p:spPr>
          <a:xfrm>
            <a:off x="762000" y="492442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>
              <a:buNone/>
              <a:defRPr sz="135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Monitoreo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6DB3BE47-8003-4039-9778-D4E1514C89FF}"/>
              </a:ext>
            </a:extLst>
          </p:cNvPr>
          <p:cNvSpPr>
            <a:spLocks noGrp="1"/>
          </p:cNvSpPr>
          <p:nvPr/>
        </p:nvSpPr>
        <p:spPr>
          <a:xfrm>
            <a:off x="2381250" y="4895850"/>
            <a:ext cx="86201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42E"/>
                </a:solidFill>
                <a:latin typeface="Arial"/>
                <a:ea typeface="Arial"/>
                <a:cs typeface="Arial"/>
              </a:rPr>
              <a:t>Databricks Jobs y system tables     calidad de datos     drift y desempeño     Azure Monitor y Log Analytics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74EB9012-52AE-4DD8-94FF-BE704BF622F3}"/>
              </a:ext>
            </a:extLst>
          </p:cNvPr>
          <p:cNvSpPr>
            <a:spLocks noGrp="1"/>
          </p:cNvSpPr>
          <p:nvPr/>
        </p:nvSpPr>
        <p:spPr>
          <a:xfrm>
            <a:off x="1428750" y="5810250"/>
            <a:ext cx="9334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ctr">
              <a:buNone/>
              <a:defRPr sz="120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B75"/>
                </a:solidFill>
                <a:latin typeface="Arial"/>
                <a:ea typeface="Arial"/>
                <a:cs typeface="Arial"/>
              </a:rPr>
              <a:t>MLflow y Unity Catalog registran el modelo, su firma y el alias Champion utilizado por ambos canales.</a:t>
            </a:r>
          </a:p>
        </p:txBody>
      </p:sp>
    </p:spTree>
    <p:extLst>
      <p:ext uri="{BB962C8B-B14F-4D97-AF65-F5344CB8AC3E}">
        <p14:creationId xmlns:p14="http://schemas.microsoft.com/office/powerpoint/2010/main" val="237900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ángulo 37">
            <a:extLst>
              <a:ext uri="{FF2B5EF4-FFF2-40B4-BE49-F238E27FC236}">
                <a16:creationId xmlns:a16="http://schemas.microsoft.com/office/drawing/2014/main" id="{39DC06FB-7237-481B-ADFC-61F6921425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BCA1BF3-3BE8-4023-8624-58187E20A3B0}"/>
              </a:ext>
            </a:extLst>
          </p:cNvPr>
          <p:cNvSpPr>
            <a:spLocks noGrp="1"/>
          </p:cNvSpPr>
          <p:nvPr/>
        </p:nvSpPr>
        <p:spPr>
          <a:xfrm>
            <a:off x="495300" y="2571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>
              <a:buNone/>
              <a:defRPr sz="82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Ejercicio 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21F15D7-ABE0-4EDC-9E5F-5CC572F1B78F}"/>
              </a:ext>
            </a:extLst>
          </p:cNvPr>
          <p:cNvSpPr>
            <a:spLocks noGrp="1"/>
          </p:cNvSpPr>
          <p:nvPr/>
        </p:nvSpPr>
        <p:spPr>
          <a:xfrm>
            <a:off x="11239500" y="247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900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9C5E281-98AC-4986-B43D-ADDEDF97F433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550" b="1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E"/>
                </a:solidFill>
                <a:latin typeface="Arial"/>
                <a:ea typeface="Arial"/>
                <a:cs typeface="Arial"/>
              </a:rPr>
              <a:t>Pipeline de scoring batch, incremental e idempotente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D22E7D8-84FC-4429-BDE9-CD159165ECC9}"/>
              </a:ext>
            </a:extLst>
          </p:cNvPr>
          <p:cNvSpPr>
            <a:spLocks noGrp="1"/>
          </p:cNvSpPr>
          <p:nvPr/>
        </p:nvSpPr>
        <p:spPr>
          <a:xfrm>
            <a:off x="514350" y="11144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B75"/>
                </a:solidFill>
                <a:latin typeface="Arial"/>
                <a:ea typeface="Arial"/>
                <a:cs typeface="Arial"/>
              </a:rPr>
              <a:t>Cada ejecución procesa solo reclamaciones nuevas y puede repetirse sin duplicar resultados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32D6808-7A72-4192-BE4F-BCEAA169ECD5}"/>
              </a:ext>
            </a:extLst>
          </p:cNvPr>
          <p:cNvSpPr>
            <a:spLocks noGrp="1"/>
          </p:cNvSpPr>
          <p:nvPr/>
        </p:nvSpPr>
        <p:spPr>
          <a:xfrm>
            <a:off x="495300" y="652462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>
              <a:buNone/>
              <a:defRPr sz="6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D6B75"/>
                </a:solidFill>
                <a:latin typeface="Arial"/>
                <a:ea typeface="Arial"/>
                <a:cs typeface="Arial"/>
              </a:rPr>
              <a:t>Prueba complementaria de Machine Learning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1E901BA-4002-4944-ABAF-75B8CCBD9614}"/>
              </a:ext>
            </a:extLst>
          </p:cNvPr>
          <p:cNvSpPr>
            <a:spLocks noGrp="1"/>
          </p:cNvSpPr>
          <p:nvPr/>
        </p:nvSpPr>
        <p:spPr>
          <a:xfrm>
            <a:off x="619125" y="1504950"/>
            <a:ext cx="10810875" cy="457200"/>
          </a:xfrm>
          <a:prstGeom prst="rect">
            <a:avLst/>
          </a:prstGeom>
          <a:solidFill>
            <a:srgbClr val="F7EEDC"/>
          </a:solidFill>
          <a:ln w="9525">
            <a:solidFill>
              <a:srgbClr val="A76A12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760C37A-A211-42F4-B80B-F5A0365A943C}"/>
              </a:ext>
            </a:extLst>
          </p:cNvPr>
          <p:cNvSpPr>
            <a:spLocks noGrp="1"/>
          </p:cNvSpPr>
          <p:nvPr/>
        </p:nvSpPr>
        <p:spPr>
          <a:xfrm>
            <a:off x="857250" y="15811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 b="1">
                <a:solidFill>
                  <a:srgbClr val="A76A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76A12"/>
                </a:solidFill>
                <a:latin typeface="Arial"/>
                <a:ea typeface="Arial"/>
                <a:cs typeface="Arial"/>
              </a:rPr>
              <a:t>Entrada de demostración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991F9F1-AA93-4A68-BC04-BFC3A6EEAD10}"/>
              </a:ext>
            </a:extLst>
          </p:cNvPr>
          <p:cNvSpPr>
            <a:spLocks noGrp="1"/>
          </p:cNvSpPr>
          <p:nvPr/>
        </p:nvSpPr>
        <p:spPr>
          <a:xfrm>
            <a:off x="3143250" y="156210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268"/>
          </a:bodyPr>
          <a:lstStyle/>
          <a:p>
            <a:pPr algn="ctr"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00_simular_reclamaciones_nuevas genera casos sintéticos. En producción llegan desde Data Factory, Event Hubs o el core de seguros.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C100F54-C5DF-4A0E-9D1F-1B0CF0782D9D}"/>
              </a:ext>
            </a:extLst>
          </p:cNvPr>
          <p:cNvSpPr>
            <a:spLocks noGrp="1"/>
          </p:cNvSpPr>
          <p:nvPr/>
        </p:nvSpPr>
        <p:spPr>
          <a:xfrm>
            <a:off x="619125" y="2114550"/>
            <a:ext cx="3286125" cy="1123950"/>
          </a:xfrm>
          <a:prstGeom prst="rect">
            <a:avLst/>
          </a:prstGeom>
          <a:solidFill>
            <a:srgbClr val="E8EEF4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998A1C6-3C16-492E-AEA6-2B621CA6B908}"/>
              </a:ext>
            </a:extLst>
          </p:cNvPr>
          <p:cNvSpPr>
            <a:spLocks noGrp="1"/>
          </p:cNvSpPr>
          <p:nvPr/>
        </p:nvSpPr>
        <p:spPr>
          <a:xfrm>
            <a:off x="809625" y="2286000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67"/>
          </a:bodyPr>
          <a:lstStyle/>
          <a:p>
            <a:pPr algn="ctr">
              <a:buNone/>
              <a:defRPr sz="18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CF3739A-2A63-4A6D-8B1B-39A2A487E16A}"/>
              </a:ext>
            </a:extLst>
          </p:cNvPr>
          <p:cNvSpPr>
            <a:spLocks noGrp="1"/>
          </p:cNvSpPr>
          <p:nvPr/>
        </p:nvSpPr>
        <p:spPr>
          <a:xfrm>
            <a:off x="1343025" y="22860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>
              <a:buNone/>
              <a:defRPr sz="150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Detectar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A86F8BD-3AF6-4C1A-89BE-3D6B880A7CBB}"/>
              </a:ext>
            </a:extLst>
          </p:cNvPr>
          <p:cNvSpPr>
            <a:spLocks noGrp="1"/>
          </p:cNvSpPr>
          <p:nvPr/>
        </p:nvSpPr>
        <p:spPr>
          <a:xfrm>
            <a:off x="847725" y="2676525"/>
            <a:ext cx="28098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Leer Delta e identificar registros todavía no procesados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B4CD129-D91C-43FC-8D0F-5462F187C777}"/>
              </a:ext>
            </a:extLst>
          </p:cNvPr>
          <p:cNvSpPr>
            <a:spLocks noGrp="1"/>
          </p:cNvSpPr>
          <p:nvPr/>
        </p:nvSpPr>
        <p:spPr>
          <a:xfrm>
            <a:off x="4381500" y="2114550"/>
            <a:ext cx="3286125" cy="1123950"/>
          </a:xfrm>
          <a:prstGeom prst="rect">
            <a:avLst/>
          </a:prstGeom>
          <a:solidFill>
            <a:srgbClr val="E8EEF4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D09E33B-62E1-4B04-B406-57F9B6381F30}"/>
              </a:ext>
            </a:extLst>
          </p:cNvPr>
          <p:cNvSpPr>
            <a:spLocks noGrp="1"/>
          </p:cNvSpPr>
          <p:nvPr/>
        </p:nvSpPr>
        <p:spPr>
          <a:xfrm>
            <a:off x="4572000" y="2286000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67"/>
          </a:bodyPr>
          <a:lstStyle/>
          <a:p>
            <a:pPr algn="ctr">
              <a:buNone/>
              <a:defRPr sz="18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25D5FA2-78BA-4068-AACE-4D93A4A9CDF9}"/>
              </a:ext>
            </a:extLst>
          </p:cNvPr>
          <p:cNvSpPr>
            <a:spLocks noGrp="1"/>
          </p:cNvSpPr>
          <p:nvPr/>
        </p:nvSpPr>
        <p:spPr>
          <a:xfrm>
            <a:off x="5105400" y="22860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>
              <a:buNone/>
              <a:defRPr sz="150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9C6C1C0-33C5-4D22-AEC0-7C93F81A234A}"/>
              </a:ext>
            </a:extLst>
          </p:cNvPr>
          <p:cNvSpPr>
            <a:spLocks noGrp="1"/>
          </p:cNvSpPr>
          <p:nvPr/>
        </p:nvSpPr>
        <p:spPr>
          <a:xfrm>
            <a:off x="4610100" y="2676525"/>
            <a:ext cx="28098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Comprobar esquema, identificadores, nulos y columnas prohibidas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3546374-0235-4E4E-89A8-4412331CF31B}"/>
              </a:ext>
            </a:extLst>
          </p:cNvPr>
          <p:cNvSpPr>
            <a:spLocks noGrp="1"/>
          </p:cNvSpPr>
          <p:nvPr/>
        </p:nvSpPr>
        <p:spPr>
          <a:xfrm>
            <a:off x="8143875" y="2114550"/>
            <a:ext cx="3286125" cy="1123950"/>
          </a:xfrm>
          <a:prstGeom prst="rect">
            <a:avLst/>
          </a:prstGeom>
          <a:solidFill>
            <a:srgbClr val="E8EEF4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EECD808-98E0-4DC1-8B75-CE6F6E5CD154}"/>
              </a:ext>
            </a:extLst>
          </p:cNvPr>
          <p:cNvSpPr>
            <a:spLocks noGrp="1"/>
          </p:cNvSpPr>
          <p:nvPr/>
        </p:nvSpPr>
        <p:spPr>
          <a:xfrm>
            <a:off x="8334375" y="2286000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67"/>
          </a:bodyPr>
          <a:lstStyle/>
          <a:p>
            <a:pPr algn="ctr">
              <a:buNone/>
              <a:defRPr sz="18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A729190-C6E2-4A32-ABC8-C17D588E043D}"/>
              </a:ext>
            </a:extLst>
          </p:cNvPr>
          <p:cNvSpPr>
            <a:spLocks noGrp="1"/>
          </p:cNvSpPr>
          <p:nvPr/>
        </p:nvSpPr>
        <p:spPr>
          <a:xfrm>
            <a:off x="8867775" y="22860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>
              <a:buNone/>
              <a:defRPr sz="150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Preparar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BE97967-323A-46AF-910F-15074DB9BD37}"/>
              </a:ext>
            </a:extLst>
          </p:cNvPr>
          <p:cNvSpPr>
            <a:spLocks noGrp="1"/>
          </p:cNvSpPr>
          <p:nvPr/>
        </p:nvSpPr>
        <p:spPr>
          <a:xfrm>
            <a:off x="8372475" y="2676525"/>
            <a:ext cx="28098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Construir las 16 variables con el mismo contrato del entrenamiento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A5A91F-DBE2-4CC5-BE56-DFD2238E3CF4}"/>
              </a:ext>
            </a:extLst>
          </p:cNvPr>
          <p:cNvSpPr>
            <a:spLocks noGrp="1"/>
          </p:cNvSpPr>
          <p:nvPr/>
        </p:nvSpPr>
        <p:spPr>
          <a:xfrm>
            <a:off x="619125" y="3543300"/>
            <a:ext cx="3286125" cy="1123950"/>
          </a:xfrm>
          <a:prstGeom prst="rect">
            <a:avLst/>
          </a:prstGeom>
          <a:solidFill>
            <a:srgbClr val="E4F1F0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BD709A9-0872-4987-B02A-9A3DA618437F}"/>
              </a:ext>
            </a:extLst>
          </p:cNvPr>
          <p:cNvSpPr>
            <a:spLocks noGrp="1"/>
          </p:cNvSpPr>
          <p:nvPr/>
        </p:nvSpPr>
        <p:spPr>
          <a:xfrm>
            <a:off x="809625" y="3714750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67"/>
          </a:bodyPr>
          <a:lstStyle/>
          <a:p>
            <a:pPr algn="ctr">
              <a:buNone/>
              <a:defRPr sz="187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B689361-AD91-4B7E-BFF3-29AAB87244CE}"/>
              </a:ext>
            </a:extLst>
          </p:cNvPr>
          <p:cNvSpPr>
            <a:spLocks noGrp="1"/>
          </p:cNvSpPr>
          <p:nvPr/>
        </p:nvSpPr>
        <p:spPr>
          <a:xfrm>
            <a:off x="1343025" y="371475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>
              <a:buNone/>
              <a:defRPr sz="150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Inferir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EFCCB96-83C8-488F-AEEF-00202FDE3448}"/>
              </a:ext>
            </a:extLst>
          </p:cNvPr>
          <p:cNvSpPr>
            <a:spLocks noGrp="1"/>
          </p:cNvSpPr>
          <p:nvPr/>
        </p:nvSpPr>
        <p:spPr>
          <a:xfrm>
            <a:off x="847725" y="4105275"/>
            <a:ext cx="28098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Resolver @Champion y generar la probabilidad de fraude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E7727E1-B6D8-4866-BCCE-2E815D4AC8D8}"/>
              </a:ext>
            </a:extLst>
          </p:cNvPr>
          <p:cNvSpPr>
            <a:spLocks noGrp="1"/>
          </p:cNvSpPr>
          <p:nvPr/>
        </p:nvSpPr>
        <p:spPr>
          <a:xfrm>
            <a:off x="4381500" y="3543300"/>
            <a:ext cx="3286125" cy="1123950"/>
          </a:xfrm>
          <a:prstGeom prst="rect">
            <a:avLst/>
          </a:prstGeom>
          <a:solidFill>
            <a:srgbClr val="E4F1F0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5F7DD57-D2B4-4B2C-9663-CDB23490C181}"/>
              </a:ext>
            </a:extLst>
          </p:cNvPr>
          <p:cNvSpPr>
            <a:spLocks noGrp="1"/>
          </p:cNvSpPr>
          <p:nvPr/>
        </p:nvSpPr>
        <p:spPr>
          <a:xfrm>
            <a:off x="4572000" y="3714750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67"/>
          </a:bodyPr>
          <a:lstStyle/>
          <a:p>
            <a:pPr algn="ctr">
              <a:buNone/>
              <a:defRPr sz="187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689E665-E912-4EAB-A614-ABF2E07D0635}"/>
              </a:ext>
            </a:extLst>
          </p:cNvPr>
          <p:cNvSpPr>
            <a:spLocks noGrp="1"/>
          </p:cNvSpPr>
          <p:nvPr/>
        </p:nvSpPr>
        <p:spPr>
          <a:xfrm>
            <a:off x="5105400" y="371475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>
              <a:buNone/>
              <a:defRPr sz="150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Decidir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19B9773-1171-421E-A793-BC7DCCE78609}"/>
              </a:ext>
            </a:extLst>
          </p:cNvPr>
          <p:cNvSpPr>
            <a:spLocks noGrp="1"/>
          </p:cNvSpPr>
          <p:nvPr/>
        </p:nvSpPr>
        <p:spPr>
          <a:xfrm>
            <a:off x="4610100" y="4105275"/>
            <a:ext cx="28098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Asignar nivel de riesgo y acción sugerida mediante umbrales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DE1EDC7-44CA-40A6-A38D-EDD7E7EF96F1}"/>
              </a:ext>
            </a:extLst>
          </p:cNvPr>
          <p:cNvSpPr>
            <a:spLocks noGrp="1"/>
          </p:cNvSpPr>
          <p:nvPr/>
        </p:nvSpPr>
        <p:spPr>
          <a:xfrm>
            <a:off x="8143875" y="3543300"/>
            <a:ext cx="3286125" cy="1123950"/>
          </a:xfrm>
          <a:prstGeom prst="rect">
            <a:avLst/>
          </a:prstGeom>
          <a:solidFill>
            <a:srgbClr val="E4F1F0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705842A-3CC2-43EB-8467-E0E9AB461C2B}"/>
              </a:ext>
            </a:extLst>
          </p:cNvPr>
          <p:cNvSpPr>
            <a:spLocks noGrp="1"/>
          </p:cNvSpPr>
          <p:nvPr/>
        </p:nvSpPr>
        <p:spPr>
          <a:xfrm>
            <a:off x="8334375" y="3714750"/>
            <a:ext cx="4000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667"/>
          </a:bodyPr>
          <a:lstStyle/>
          <a:p>
            <a:pPr algn="ctr">
              <a:buNone/>
              <a:defRPr sz="187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15E49CC-6C89-4681-B04C-D6C94222DAAF}"/>
              </a:ext>
            </a:extLst>
          </p:cNvPr>
          <p:cNvSpPr>
            <a:spLocks noGrp="1"/>
          </p:cNvSpPr>
          <p:nvPr/>
        </p:nvSpPr>
        <p:spPr>
          <a:xfrm>
            <a:off x="8867775" y="371475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>
              <a:buNone/>
              <a:defRPr sz="150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Publicar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C4A643F-8B8C-4297-AD02-FE2DA5CBCF54}"/>
              </a:ext>
            </a:extLst>
          </p:cNvPr>
          <p:cNvSpPr>
            <a:spLocks noGrp="1"/>
          </p:cNvSpPr>
          <p:nvPr/>
        </p:nvSpPr>
        <p:spPr>
          <a:xfrm>
            <a:off x="8372475" y="4105275"/>
            <a:ext cx="280987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Materializar staging, ejecutar MERGE y registrar la auditoría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F2F8F70-287E-421E-A6D7-B620F83876F5}"/>
              </a:ext>
            </a:extLst>
          </p:cNvPr>
          <p:cNvSpPr>
            <a:spLocks noGrp="1"/>
          </p:cNvSpPr>
          <p:nvPr/>
        </p:nvSpPr>
        <p:spPr>
          <a:xfrm>
            <a:off x="1095375" y="4953000"/>
            <a:ext cx="10001250" cy="66675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64E68E6-8B78-498B-9896-D3320E08A398}"/>
              </a:ext>
            </a:extLst>
          </p:cNvPr>
          <p:cNvSpPr>
            <a:spLocks noGrp="1"/>
          </p:cNvSpPr>
          <p:nvPr/>
        </p:nvSpPr>
        <p:spPr>
          <a:xfrm>
            <a:off x="1428750" y="51435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Ejecución demostrada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CB1BDED-CBF8-49F8-A3E1-0620E9CCEC35}"/>
              </a:ext>
            </a:extLst>
          </p:cNvPr>
          <p:cNvSpPr>
            <a:spLocks noGrp="1"/>
          </p:cNvSpPr>
          <p:nvPr/>
        </p:nvSpPr>
        <p:spPr>
          <a:xfrm>
            <a:off x="3714750" y="5067300"/>
            <a:ext cx="6858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491"/>
          </a:bodyPr>
          <a:lstStyle/>
          <a:p>
            <a:pPr algn="ctr"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12.776 entradas, 12.776 scores publicados y 0 errores, con versión del modelo e identificador de ejecución.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EBC1282-8634-4B50-903A-7C87D692031A}"/>
              </a:ext>
            </a:extLst>
          </p:cNvPr>
          <p:cNvSpPr>
            <a:spLocks noGrp="1"/>
          </p:cNvSpPr>
          <p:nvPr/>
        </p:nvSpPr>
        <p:spPr>
          <a:xfrm>
            <a:off x="1000125" y="6048375"/>
            <a:ext cx="10191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90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D6B75"/>
                </a:solidFill>
                <a:latin typeface="Arial"/>
                <a:ea typeface="Arial"/>
                <a:cs typeface="Arial"/>
              </a:rPr>
              <a:t>Evidencia completa: 00_simular_reclamaciones_nuevas, 01_modelo_fraude_pyspark (1).html y 02_scoring_batch_fraude.html</a:t>
            </a:r>
          </a:p>
        </p:txBody>
      </p:sp>
    </p:spTree>
    <p:extLst>
      <p:ext uri="{BB962C8B-B14F-4D97-AF65-F5344CB8AC3E}">
        <p14:creationId xmlns:p14="http://schemas.microsoft.com/office/powerpoint/2010/main" val="850187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11D0348D-C163-400F-A33C-C4CEA90AF1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C4774C9-0773-4A48-B128-8A659EFC9614}"/>
              </a:ext>
            </a:extLst>
          </p:cNvPr>
          <p:cNvSpPr>
            <a:spLocks noGrp="1"/>
          </p:cNvSpPr>
          <p:nvPr/>
        </p:nvSpPr>
        <p:spPr>
          <a:xfrm>
            <a:off x="495300" y="2571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>
              <a:buNone/>
              <a:defRPr sz="82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Ejercicio 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0786185-AC0B-49CB-9EC5-2411FF59A469}"/>
              </a:ext>
            </a:extLst>
          </p:cNvPr>
          <p:cNvSpPr>
            <a:spLocks noGrp="1"/>
          </p:cNvSpPr>
          <p:nvPr/>
        </p:nvSpPr>
        <p:spPr>
          <a:xfrm>
            <a:off x="11239500" y="247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900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517501-43C2-468E-8641-A45919294600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550" b="1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E"/>
                </a:solidFill>
                <a:latin typeface="Arial"/>
                <a:ea typeface="Arial"/>
                <a:cs typeface="Arial"/>
              </a:rPr>
              <a:t>Almacenamiento, despliegue, registro y monitoreo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FF6B8E6-1FE1-4EF7-8DCF-21319597D311}"/>
              </a:ext>
            </a:extLst>
          </p:cNvPr>
          <p:cNvSpPr>
            <a:spLocks noGrp="1"/>
          </p:cNvSpPr>
          <p:nvPr/>
        </p:nvSpPr>
        <p:spPr>
          <a:xfrm>
            <a:off x="514350" y="11144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B75"/>
                </a:solidFill>
                <a:latin typeface="Arial"/>
                <a:ea typeface="Arial"/>
                <a:cs typeface="Arial"/>
              </a:rPr>
              <a:t>Cada capacidad conserva un contrato claro y una responsabilidad operativa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E68C159-9409-4D04-B0A6-7356F9A3D99D}"/>
              </a:ext>
            </a:extLst>
          </p:cNvPr>
          <p:cNvSpPr>
            <a:spLocks noGrp="1"/>
          </p:cNvSpPr>
          <p:nvPr/>
        </p:nvSpPr>
        <p:spPr>
          <a:xfrm>
            <a:off x="495300" y="652462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>
              <a:buNone/>
              <a:defRPr sz="6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D6B75"/>
                </a:solidFill>
                <a:latin typeface="Arial"/>
                <a:ea typeface="Arial"/>
                <a:cs typeface="Arial"/>
              </a:rPr>
              <a:t>Prueba complementaria de Machine Learning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EB6C26B-65D6-4947-B6E3-B6D7C7688E43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5048250" cy="1428750"/>
          </a:xfrm>
          <a:prstGeom prst="rect">
            <a:avLst/>
          </a:prstGeom>
          <a:solidFill>
            <a:srgbClr val="E8EEF4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CD6655E-533F-4C98-81DD-BE0D0A5AB3C3}"/>
              </a:ext>
            </a:extLst>
          </p:cNvPr>
          <p:cNvSpPr>
            <a:spLocks noGrp="1"/>
          </p:cNvSpPr>
          <p:nvPr/>
        </p:nvSpPr>
        <p:spPr>
          <a:xfrm>
            <a:off x="904875" y="19050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>
              <a:buNone/>
              <a:defRPr sz="150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Almacenamiento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5C02DB4-2000-457E-A3D1-C94C064223BE}"/>
              </a:ext>
            </a:extLst>
          </p:cNvPr>
          <p:cNvSpPr>
            <a:spLocks noGrp="1"/>
          </p:cNvSpPr>
          <p:nvPr/>
        </p:nvSpPr>
        <p:spPr>
          <a:xfrm>
            <a:off x="3095625" y="1905000"/>
            <a:ext cx="2333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20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ADLS Gen2 y Delta Lake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CDD8104-ADFA-4E83-AB9F-D51FC9C11535}"/>
              </a:ext>
            </a:extLst>
          </p:cNvPr>
          <p:cNvSpPr>
            <a:spLocks noGrp="1"/>
          </p:cNvSpPr>
          <p:nvPr/>
        </p:nvSpPr>
        <p:spPr>
          <a:xfrm>
            <a:off x="904875" y="2286000"/>
            <a:ext cx="4572000" cy="19050"/>
          </a:xfrm>
          <a:prstGeom prst="rect">
            <a:avLst/>
          </a:prstGeom>
          <a:solidFill>
            <a:srgbClr val="D9E1E6"/>
          </a:solidFill>
          <a:ln w="0">
            <a:solidFill>
              <a:srgbClr val="D9E1E6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831442E-02EC-4EFA-8CAB-411B5C8158A4}"/>
              </a:ext>
            </a:extLst>
          </p:cNvPr>
          <p:cNvSpPr>
            <a:spLocks noGrp="1"/>
          </p:cNvSpPr>
          <p:nvPr/>
        </p:nvSpPr>
        <p:spPr>
          <a:xfrm>
            <a:off x="904875" y="2447925"/>
            <a:ext cx="4572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42E"/>
                </a:solidFill>
                <a:latin typeface="Arial"/>
                <a:ea typeface="Arial"/>
                <a:cs typeface="Arial"/>
              </a:rPr>
              <a:t>Bronze, Silver y Gold. Scores, errores, staging y auditoría conservan historial y permiten reproceso.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95E9448-01ED-424D-B0B7-8EC657FA35A7}"/>
              </a:ext>
            </a:extLst>
          </p:cNvPr>
          <p:cNvSpPr>
            <a:spLocks noGrp="1"/>
          </p:cNvSpPr>
          <p:nvPr/>
        </p:nvSpPr>
        <p:spPr>
          <a:xfrm>
            <a:off x="6191250" y="1733550"/>
            <a:ext cx="5048250" cy="1428750"/>
          </a:xfrm>
          <a:prstGeom prst="rect">
            <a:avLst/>
          </a:prstGeom>
          <a:solidFill>
            <a:srgbClr val="E4F1F0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B928CC2-7F44-422D-88B2-7E1F76B9672D}"/>
              </a:ext>
            </a:extLst>
          </p:cNvPr>
          <p:cNvSpPr>
            <a:spLocks noGrp="1"/>
          </p:cNvSpPr>
          <p:nvPr/>
        </p:nvSpPr>
        <p:spPr>
          <a:xfrm>
            <a:off x="6429375" y="19050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>
              <a:buNone/>
              <a:defRPr sz="150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Despliegue y exposición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28A04F8-885D-4445-9E03-DFB0B7FCB3FF}"/>
              </a:ext>
            </a:extLst>
          </p:cNvPr>
          <p:cNvSpPr>
            <a:spLocks noGrp="1"/>
          </p:cNvSpPr>
          <p:nvPr/>
        </p:nvSpPr>
        <p:spPr>
          <a:xfrm>
            <a:off x="8620125" y="1905000"/>
            <a:ext cx="2333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666"/>
          </a:bodyPr>
          <a:lstStyle/>
          <a:p>
            <a:pPr algn="r">
              <a:buNone/>
              <a:defRPr sz="120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Workflows, Model Serving y API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A44A419-2ABF-4D46-A310-A5E77039B09C}"/>
              </a:ext>
            </a:extLst>
          </p:cNvPr>
          <p:cNvSpPr>
            <a:spLocks noGrp="1"/>
          </p:cNvSpPr>
          <p:nvPr/>
        </p:nvSpPr>
        <p:spPr>
          <a:xfrm>
            <a:off x="6429375" y="2286000"/>
            <a:ext cx="4572000" cy="19050"/>
          </a:xfrm>
          <a:prstGeom prst="rect">
            <a:avLst/>
          </a:prstGeom>
          <a:solidFill>
            <a:srgbClr val="D9E1E6"/>
          </a:solidFill>
          <a:ln w="0">
            <a:solidFill>
              <a:srgbClr val="D9E1E6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D534D69-2269-4713-A140-B8B68B0D645B}"/>
              </a:ext>
            </a:extLst>
          </p:cNvPr>
          <p:cNvSpPr>
            <a:spLocks noGrp="1"/>
          </p:cNvSpPr>
          <p:nvPr/>
        </p:nvSpPr>
        <p:spPr>
          <a:xfrm>
            <a:off x="6429375" y="2447925"/>
            <a:ext cx="4572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42E"/>
                </a:solidFill>
                <a:latin typeface="Arial"/>
                <a:ea typeface="Arial"/>
                <a:cs typeface="Arial"/>
              </a:rPr>
              <a:t>Batch publica en Delta y SQL. Online expone el mismo Champion detrás de API Management.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572C4D3-D03B-4E07-9328-143A02EA0466}"/>
              </a:ext>
            </a:extLst>
          </p:cNvPr>
          <p:cNvSpPr>
            <a:spLocks noGrp="1"/>
          </p:cNvSpPr>
          <p:nvPr/>
        </p:nvSpPr>
        <p:spPr>
          <a:xfrm>
            <a:off x="666750" y="3543300"/>
            <a:ext cx="5048250" cy="1428750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EE8830-CBCF-4F05-A647-1AEDDB2A4C3F}"/>
              </a:ext>
            </a:extLst>
          </p:cNvPr>
          <p:cNvSpPr>
            <a:spLocks noGrp="1"/>
          </p:cNvSpPr>
          <p:nvPr/>
        </p:nvSpPr>
        <p:spPr>
          <a:xfrm>
            <a:off x="904875" y="371475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>
              <a:buNone/>
              <a:defRPr sz="150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Registro del modelo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951CADC-E97E-43A0-9294-D2F4E7D5A409}"/>
              </a:ext>
            </a:extLst>
          </p:cNvPr>
          <p:cNvSpPr>
            <a:spLocks noGrp="1"/>
          </p:cNvSpPr>
          <p:nvPr/>
        </p:nvSpPr>
        <p:spPr>
          <a:xfrm>
            <a:off x="3095625" y="3714750"/>
            <a:ext cx="2333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200" b="1">
                <a:solidFill>
                  <a:srgbClr val="A76A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6A12"/>
                </a:solidFill>
                <a:latin typeface="Arial"/>
                <a:ea typeface="Arial"/>
                <a:cs typeface="Arial"/>
              </a:rPr>
              <a:t>MLflow y Unity Catalog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D16AD6A-096D-49E4-AE9A-15DDD1F7A652}"/>
              </a:ext>
            </a:extLst>
          </p:cNvPr>
          <p:cNvSpPr>
            <a:spLocks noGrp="1"/>
          </p:cNvSpPr>
          <p:nvPr/>
        </p:nvSpPr>
        <p:spPr>
          <a:xfrm>
            <a:off x="904875" y="4095750"/>
            <a:ext cx="4572000" cy="19050"/>
          </a:xfrm>
          <a:prstGeom prst="rect">
            <a:avLst/>
          </a:prstGeom>
          <a:solidFill>
            <a:srgbClr val="D9E1E6"/>
          </a:solidFill>
          <a:ln w="0">
            <a:solidFill>
              <a:srgbClr val="D9E1E6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C408030-05C0-46DA-BD61-14C74BF3BB58}"/>
              </a:ext>
            </a:extLst>
          </p:cNvPr>
          <p:cNvSpPr>
            <a:spLocks noGrp="1"/>
          </p:cNvSpPr>
          <p:nvPr/>
        </p:nvSpPr>
        <p:spPr>
          <a:xfrm>
            <a:off x="904875" y="4257675"/>
            <a:ext cx="4572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42E"/>
                </a:solidFill>
                <a:latin typeface="Arial"/>
                <a:ea typeface="Arial"/>
                <a:cs typeface="Arial"/>
              </a:rPr>
              <a:t>Versiones inmutables con firma, parámetros, métricas y alias Champion para desacoplar consumidores.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CB4723B-C2D0-4709-9BB6-69201559B78F}"/>
              </a:ext>
            </a:extLst>
          </p:cNvPr>
          <p:cNvSpPr>
            <a:spLocks noGrp="1"/>
          </p:cNvSpPr>
          <p:nvPr/>
        </p:nvSpPr>
        <p:spPr>
          <a:xfrm>
            <a:off x="6191250" y="3543300"/>
            <a:ext cx="5048250" cy="1428750"/>
          </a:xfrm>
          <a:prstGeom prst="rect">
            <a:avLst/>
          </a:prstGeom>
          <a:solidFill>
            <a:srgbClr val="F7EAEA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822FE88-B8B5-487B-A159-1EA241F64B8B}"/>
              </a:ext>
            </a:extLst>
          </p:cNvPr>
          <p:cNvSpPr>
            <a:spLocks noGrp="1"/>
          </p:cNvSpPr>
          <p:nvPr/>
        </p:nvSpPr>
        <p:spPr>
          <a:xfrm>
            <a:off x="6429375" y="371475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>
              <a:buNone/>
              <a:defRPr sz="150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Monitoreo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39678EE-5007-4C92-A32C-8C2E3AB5CACB}"/>
              </a:ext>
            </a:extLst>
          </p:cNvPr>
          <p:cNvSpPr>
            <a:spLocks noGrp="1"/>
          </p:cNvSpPr>
          <p:nvPr/>
        </p:nvSpPr>
        <p:spPr>
          <a:xfrm>
            <a:off x="8620125" y="3714750"/>
            <a:ext cx="2333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1200" b="1">
                <a:solidFill>
                  <a:srgbClr val="B743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4343"/>
                </a:solidFill>
                <a:latin typeface="Arial"/>
                <a:ea typeface="Arial"/>
                <a:cs typeface="Arial"/>
              </a:rPr>
              <a:t>Databricks y Azure Monitor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3D3AEF1-50D1-4CC6-AC19-5868E9F46FD9}"/>
              </a:ext>
            </a:extLst>
          </p:cNvPr>
          <p:cNvSpPr>
            <a:spLocks noGrp="1"/>
          </p:cNvSpPr>
          <p:nvPr/>
        </p:nvSpPr>
        <p:spPr>
          <a:xfrm>
            <a:off x="6429375" y="4095750"/>
            <a:ext cx="4572000" cy="19050"/>
          </a:xfrm>
          <a:prstGeom prst="rect">
            <a:avLst/>
          </a:prstGeom>
          <a:solidFill>
            <a:srgbClr val="D9E1E6"/>
          </a:solidFill>
          <a:ln w="0">
            <a:solidFill>
              <a:srgbClr val="D9E1E6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6EF1D8C-0482-42AA-A1E6-A2F472CEBB39}"/>
              </a:ext>
            </a:extLst>
          </p:cNvPr>
          <p:cNvSpPr>
            <a:spLocks noGrp="1"/>
          </p:cNvSpPr>
          <p:nvPr/>
        </p:nvSpPr>
        <p:spPr>
          <a:xfrm>
            <a:off x="6429375" y="4257675"/>
            <a:ext cx="4572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42E"/>
                </a:solidFill>
                <a:latin typeface="Arial"/>
                <a:ea typeface="Arial"/>
                <a:cs typeface="Arial"/>
              </a:rPr>
              <a:t>Salud del job, calidad, volumen, latencia, errores, drift, desempeño y costo con alertas auditables.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BB1DF99-7AF8-4528-AFC2-082FD4E701C0}"/>
              </a:ext>
            </a:extLst>
          </p:cNvPr>
          <p:cNvSpPr>
            <a:spLocks noGrp="1"/>
          </p:cNvSpPr>
          <p:nvPr/>
        </p:nvSpPr>
        <p:spPr>
          <a:xfrm>
            <a:off x="1095375" y="5381625"/>
            <a:ext cx="10001250" cy="523875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89C01AA-763D-4948-B51D-67797F67F2E8}"/>
              </a:ext>
            </a:extLst>
          </p:cNvPr>
          <p:cNvSpPr>
            <a:spLocks noGrp="1"/>
          </p:cNvSpPr>
          <p:nvPr/>
        </p:nvSpPr>
        <p:spPr>
          <a:xfrm>
            <a:off x="1476375" y="5476875"/>
            <a:ext cx="9239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Contrato de salida: id_reclamacion, score_fraude, nivel_riesgo, acción_sugerida, fecha, versión e id_ejecución.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214E9A9-B307-40EE-A678-89BB22819E88}"/>
              </a:ext>
            </a:extLst>
          </p:cNvPr>
          <p:cNvSpPr>
            <a:spLocks noGrp="1"/>
          </p:cNvSpPr>
          <p:nvPr/>
        </p:nvSpPr>
        <p:spPr>
          <a:xfrm>
            <a:off x="952500" y="600075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90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D6B75"/>
                </a:solidFill>
                <a:latin typeface="Arial"/>
                <a:ea typeface="Arial"/>
                <a:cs typeface="Arial"/>
              </a:rPr>
              <a:t>Evidencia completa: 01_modelo_fraude_pyspark (1).html, 02_scoring_batch_fraude.html y 01_configuracion_fraude_produccion.csv</a:t>
            </a:r>
          </a:p>
        </p:txBody>
      </p:sp>
    </p:spTree>
    <p:extLst>
      <p:ext uri="{BB962C8B-B14F-4D97-AF65-F5344CB8AC3E}">
        <p14:creationId xmlns:p14="http://schemas.microsoft.com/office/powerpoint/2010/main" val="1671830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ángulo 53">
            <a:extLst>
              <a:ext uri="{FF2B5EF4-FFF2-40B4-BE49-F238E27FC236}">
                <a16:creationId xmlns:a16="http://schemas.microsoft.com/office/drawing/2014/main" id="{A63683FA-7244-42BD-AF95-5BB80E1333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8BBADAF-20C4-46E5-ADA0-5342C4B643B7}"/>
              </a:ext>
            </a:extLst>
          </p:cNvPr>
          <p:cNvSpPr>
            <a:spLocks noGrp="1"/>
          </p:cNvSpPr>
          <p:nvPr/>
        </p:nvSpPr>
        <p:spPr>
          <a:xfrm>
            <a:off x="495300" y="2571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>
              <a:buNone/>
              <a:defRPr sz="82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Ejercicio 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0641589-89F8-4640-BE8D-A0B9CB19C563}"/>
              </a:ext>
            </a:extLst>
          </p:cNvPr>
          <p:cNvSpPr>
            <a:spLocks noGrp="1"/>
          </p:cNvSpPr>
          <p:nvPr/>
        </p:nvSpPr>
        <p:spPr>
          <a:xfrm>
            <a:off x="11239500" y="247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900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64471FF-B64A-4BD3-8198-372A7A7B4569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550" b="1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E"/>
                </a:solidFill>
                <a:latin typeface="Arial"/>
                <a:ea typeface="Arial"/>
                <a:cs typeface="Arial"/>
              </a:rPr>
              <a:t>Reproducibilidad significa reconstruir una decisión del modelo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3F1A42F-7751-4FAF-93D8-0AE410C87E06}"/>
              </a:ext>
            </a:extLst>
          </p:cNvPr>
          <p:cNvSpPr>
            <a:spLocks noGrp="1"/>
          </p:cNvSpPr>
          <p:nvPr/>
        </p:nvSpPr>
        <p:spPr>
          <a:xfrm>
            <a:off x="514350" y="11144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B75"/>
                </a:solidFill>
                <a:latin typeface="Arial"/>
                <a:ea typeface="Arial"/>
                <a:cs typeface="Arial"/>
              </a:rPr>
              <a:t>La versión del modelo por sí sola no permite repetir un resultado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D420E75-505B-42AC-91F0-49C32C6F6612}"/>
              </a:ext>
            </a:extLst>
          </p:cNvPr>
          <p:cNvSpPr>
            <a:spLocks noGrp="1"/>
          </p:cNvSpPr>
          <p:nvPr/>
        </p:nvSpPr>
        <p:spPr>
          <a:xfrm>
            <a:off x="495300" y="652462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>
              <a:buNone/>
              <a:defRPr sz="6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D6B75"/>
                </a:solidFill>
                <a:latin typeface="Arial"/>
                <a:ea typeface="Arial"/>
                <a:cs typeface="Arial"/>
              </a:rPr>
              <a:t>Prueba complementaria de Machine Learning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3A1BD15-D177-4D5B-AB9E-391C7631C408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52"/>
          </a:bodyPr>
          <a:lstStyle/>
          <a:p>
            <a:pPr>
              <a:buNone/>
              <a:defRPr sz="15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Cadena reproducible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52A192A-D74E-4F59-B78D-36F85C324701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1619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3374C3B-E222-4765-A6A0-7301DB26C951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66675" cy="8763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4E048A0-CF7E-4143-8C52-5F706E647452}"/>
              </a:ext>
            </a:extLst>
          </p:cNvPr>
          <p:cNvSpPr>
            <a:spLocks noGrp="1"/>
          </p:cNvSpPr>
          <p:nvPr/>
        </p:nvSpPr>
        <p:spPr>
          <a:xfrm>
            <a:off x="857250" y="2257425"/>
            <a:ext cx="12954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Código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8586642-A741-4C3E-BE3B-BA0AEEEA6137}"/>
              </a:ext>
            </a:extLst>
          </p:cNvPr>
          <p:cNvSpPr>
            <a:spLocks noGrp="1"/>
          </p:cNvSpPr>
          <p:nvPr/>
        </p:nvSpPr>
        <p:spPr>
          <a:xfrm>
            <a:off x="857250" y="2543175"/>
            <a:ext cx="12954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9EAE085A-AB62-4995-8C0D-415FFEBD70EC}"/>
              </a:ext>
            </a:extLst>
          </p:cNvPr>
          <p:cNvSpPr>
            <a:spLocks noGrp="1"/>
          </p:cNvSpPr>
          <p:nvPr/>
        </p:nvSpPr>
        <p:spPr>
          <a:xfrm>
            <a:off x="2362200" y="2447925"/>
            <a:ext cx="304800" cy="22860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65C7F97-CFCC-4FE5-B12F-FA1BA039CF1D}"/>
              </a:ext>
            </a:extLst>
          </p:cNvPr>
          <p:cNvSpPr>
            <a:spLocks noGrp="1"/>
          </p:cNvSpPr>
          <p:nvPr/>
        </p:nvSpPr>
        <p:spPr>
          <a:xfrm>
            <a:off x="2762250" y="2143125"/>
            <a:ext cx="1619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D076C20-0604-49BF-8B66-DC7D2A847389}"/>
              </a:ext>
            </a:extLst>
          </p:cNvPr>
          <p:cNvSpPr>
            <a:spLocks noGrp="1"/>
          </p:cNvSpPr>
          <p:nvPr/>
        </p:nvSpPr>
        <p:spPr>
          <a:xfrm>
            <a:off x="2762250" y="2143125"/>
            <a:ext cx="66675" cy="8763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C948A54-C4AC-4CA6-9256-129C318BE282}"/>
              </a:ext>
            </a:extLst>
          </p:cNvPr>
          <p:cNvSpPr>
            <a:spLocks noGrp="1"/>
          </p:cNvSpPr>
          <p:nvPr/>
        </p:nvSpPr>
        <p:spPr>
          <a:xfrm>
            <a:off x="2952750" y="2257425"/>
            <a:ext cx="12954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74C5FCF-E5C6-42C8-BE49-6B89DA60A8C9}"/>
              </a:ext>
            </a:extLst>
          </p:cNvPr>
          <p:cNvSpPr>
            <a:spLocks noGrp="1"/>
          </p:cNvSpPr>
          <p:nvPr/>
        </p:nvSpPr>
        <p:spPr>
          <a:xfrm>
            <a:off x="2952750" y="2543175"/>
            <a:ext cx="12954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versión</a:t>
            </a: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37A687AC-D943-4651-A3D4-FC8FE93954F7}"/>
              </a:ext>
            </a:extLst>
          </p:cNvPr>
          <p:cNvSpPr>
            <a:spLocks noGrp="1"/>
          </p:cNvSpPr>
          <p:nvPr/>
        </p:nvSpPr>
        <p:spPr>
          <a:xfrm>
            <a:off x="4457700" y="2447925"/>
            <a:ext cx="304800" cy="22860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6BC2DE2-EEEC-413A-8801-83CD004326DE}"/>
              </a:ext>
            </a:extLst>
          </p:cNvPr>
          <p:cNvSpPr>
            <a:spLocks noGrp="1"/>
          </p:cNvSpPr>
          <p:nvPr/>
        </p:nvSpPr>
        <p:spPr>
          <a:xfrm>
            <a:off x="4857750" y="2143125"/>
            <a:ext cx="1619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F89247C-6F52-4433-BEAC-22CEAB075E4C}"/>
              </a:ext>
            </a:extLst>
          </p:cNvPr>
          <p:cNvSpPr>
            <a:spLocks noGrp="1"/>
          </p:cNvSpPr>
          <p:nvPr/>
        </p:nvSpPr>
        <p:spPr>
          <a:xfrm>
            <a:off x="4857750" y="2143125"/>
            <a:ext cx="66675" cy="8763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38B664D-8816-46AB-B192-68D36B6B3DB6}"/>
              </a:ext>
            </a:extLst>
          </p:cNvPr>
          <p:cNvSpPr>
            <a:spLocks noGrp="1"/>
          </p:cNvSpPr>
          <p:nvPr/>
        </p:nvSpPr>
        <p:spPr>
          <a:xfrm>
            <a:off x="5048250" y="2257425"/>
            <a:ext cx="12954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Entorno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31050FF-319F-4F1C-9284-CD8970C6529D}"/>
              </a:ext>
            </a:extLst>
          </p:cNvPr>
          <p:cNvSpPr>
            <a:spLocks noGrp="1"/>
          </p:cNvSpPr>
          <p:nvPr/>
        </p:nvSpPr>
        <p:spPr>
          <a:xfrm>
            <a:off x="5048250" y="2543175"/>
            <a:ext cx="12954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dependencias</a:t>
            </a: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89C76A99-3E76-4F83-B5DE-1558D7E259BE}"/>
              </a:ext>
            </a:extLst>
          </p:cNvPr>
          <p:cNvSpPr>
            <a:spLocks noGrp="1"/>
          </p:cNvSpPr>
          <p:nvPr/>
        </p:nvSpPr>
        <p:spPr>
          <a:xfrm>
            <a:off x="6553200" y="2447925"/>
            <a:ext cx="304800" cy="22860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029DE6F-BBCC-479F-B8C0-B852E56C6AA5}"/>
              </a:ext>
            </a:extLst>
          </p:cNvPr>
          <p:cNvSpPr>
            <a:spLocks noGrp="1"/>
          </p:cNvSpPr>
          <p:nvPr/>
        </p:nvSpPr>
        <p:spPr>
          <a:xfrm>
            <a:off x="6953250" y="2143125"/>
            <a:ext cx="1619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DDDFBFA-91AF-4957-ACFA-CFA4008CD28F}"/>
              </a:ext>
            </a:extLst>
          </p:cNvPr>
          <p:cNvSpPr>
            <a:spLocks noGrp="1"/>
          </p:cNvSpPr>
          <p:nvPr/>
        </p:nvSpPr>
        <p:spPr>
          <a:xfrm>
            <a:off x="6953250" y="2143125"/>
            <a:ext cx="66675" cy="8763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D34A3F3-D7BF-4763-BF7B-37731443B6BB}"/>
              </a:ext>
            </a:extLst>
          </p:cNvPr>
          <p:cNvSpPr>
            <a:spLocks noGrp="1"/>
          </p:cNvSpPr>
          <p:nvPr/>
        </p:nvSpPr>
        <p:spPr>
          <a:xfrm>
            <a:off x="7143750" y="2257425"/>
            <a:ext cx="12954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56387BA-CE6B-44ED-B382-9465A61893E3}"/>
              </a:ext>
            </a:extLst>
          </p:cNvPr>
          <p:cNvSpPr>
            <a:spLocks noGrp="1"/>
          </p:cNvSpPr>
          <p:nvPr/>
        </p:nvSpPr>
        <p:spPr>
          <a:xfrm>
            <a:off x="7143750" y="2543175"/>
            <a:ext cx="12954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parámetros</a:t>
            </a:r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D4A6E782-17C8-438D-9EBA-6EA1B88F0FEA}"/>
              </a:ext>
            </a:extLst>
          </p:cNvPr>
          <p:cNvSpPr>
            <a:spLocks noGrp="1"/>
          </p:cNvSpPr>
          <p:nvPr/>
        </p:nvSpPr>
        <p:spPr>
          <a:xfrm>
            <a:off x="8648700" y="2447925"/>
            <a:ext cx="304800" cy="22860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B8C16F6-4939-465D-8FD8-BC5FFDFC2F49}"/>
              </a:ext>
            </a:extLst>
          </p:cNvPr>
          <p:cNvSpPr>
            <a:spLocks noGrp="1"/>
          </p:cNvSpPr>
          <p:nvPr/>
        </p:nvSpPr>
        <p:spPr>
          <a:xfrm>
            <a:off x="9048750" y="2143125"/>
            <a:ext cx="1619250" cy="876300"/>
          </a:xfrm>
          <a:prstGeom prst="rect">
            <a:avLst/>
          </a:prstGeom>
          <a:solidFill>
            <a:srgbClr val="E4F1F0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4A981E5-3FD8-44EE-974D-F58D6CF8465C}"/>
              </a:ext>
            </a:extLst>
          </p:cNvPr>
          <p:cNvSpPr>
            <a:spLocks noGrp="1"/>
          </p:cNvSpPr>
          <p:nvPr/>
        </p:nvSpPr>
        <p:spPr>
          <a:xfrm>
            <a:off x="9048750" y="2143125"/>
            <a:ext cx="66675" cy="8763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9FCE3F3-184F-42C1-A604-FCA08DF1B003}"/>
              </a:ext>
            </a:extLst>
          </p:cNvPr>
          <p:cNvSpPr>
            <a:spLocks noGrp="1"/>
          </p:cNvSpPr>
          <p:nvPr/>
        </p:nvSpPr>
        <p:spPr>
          <a:xfrm>
            <a:off x="9239250" y="2257425"/>
            <a:ext cx="12954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Modelo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683E2EA-DE12-4F3B-A822-4D8807CD2AEB}"/>
              </a:ext>
            </a:extLst>
          </p:cNvPr>
          <p:cNvSpPr>
            <a:spLocks noGrp="1"/>
          </p:cNvSpPr>
          <p:nvPr/>
        </p:nvSpPr>
        <p:spPr>
          <a:xfrm>
            <a:off x="9239250" y="2543175"/>
            <a:ext cx="12954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firma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DBC8BEFD-BB87-4CD3-B47F-AA364D2A0A04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52"/>
          </a:bodyPr>
          <a:lstStyle/>
          <a:p>
            <a:pPr>
              <a:buNone/>
              <a:defRPr sz="15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Artefactos que deben versionarse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B83E7949-6DB6-482B-94CF-DE307D95298F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2762250" cy="457200"/>
          </a:xfrm>
          <a:prstGeom prst="rect">
            <a:avLst/>
          </a:prstGeom>
          <a:solidFill>
            <a:srgbClr val="173B57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B9E0BAC-62A7-41A0-9ECE-3DA73CFB5230}"/>
              </a:ext>
            </a:extLst>
          </p:cNvPr>
          <p:cNvSpPr>
            <a:spLocks noGrp="1"/>
          </p:cNvSpPr>
          <p:nvPr/>
        </p:nvSpPr>
        <p:spPr>
          <a:xfrm>
            <a:off x="771525" y="3962400"/>
            <a:ext cx="2590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Dominio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C047C8E5-D559-4406-8311-62F9333EB027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7524750" cy="457200"/>
          </a:xfrm>
          <a:prstGeom prst="rect">
            <a:avLst/>
          </a:prstGeom>
          <a:solidFill>
            <a:srgbClr val="173B57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A2A4EE0F-8670-46A5-8E5F-CB5767C23BA7}"/>
              </a:ext>
            </a:extLst>
          </p:cNvPr>
          <p:cNvSpPr>
            <a:spLocks noGrp="1"/>
          </p:cNvSpPr>
          <p:nvPr/>
        </p:nvSpPr>
        <p:spPr>
          <a:xfrm>
            <a:off x="3533775" y="3962400"/>
            <a:ext cx="73533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Contenido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0F959D8-5A22-446D-9031-3965C0A9AFA3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2762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E038038A-FC39-4BEE-9B2A-FA7E0EC3A247}"/>
              </a:ext>
            </a:extLst>
          </p:cNvPr>
          <p:cNvSpPr>
            <a:spLocks noGrp="1"/>
          </p:cNvSpPr>
          <p:nvPr/>
        </p:nvSpPr>
        <p:spPr>
          <a:xfrm>
            <a:off x="771525" y="4419600"/>
            <a:ext cx="2590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Código y configuración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FB9A793-0B80-45A6-9DE3-56A6611F16E8}"/>
              </a:ext>
            </a:extLst>
          </p:cNvPr>
          <p:cNvSpPr>
            <a:spLocks noGrp="1"/>
          </p:cNvSpPr>
          <p:nvPr/>
        </p:nvSpPr>
        <p:spPr>
          <a:xfrm>
            <a:off x="3448050" y="4362450"/>
            <a:ext cx="7524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42F50871-E540-4390-8F8E-741A13C68C78}"/>
              </a:ext>
            </a:extLst>
          </p:cNvPr>
          <p:cNvSpPr>
            <a:spLocks noGrp="1"/>
          </p:cNvSpPr>
          <p:nvPr/>
        </p:nvSpPr>
        <p:spPr>
          <a:xfrm>
            <a:off x="3533775" y="4419600"/>
            <a:ext cx="73533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Entrenamiento, transformaciones, umbrales y reglas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8B77FD04-0B03-4CCE-95BB-134CDC7F007B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2762250" cy="457200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0BA74CF8-9D49-462A-AC09-506E43F66A0B}"/>
              </a:ext>
            </a:extLst>
          </p:cNvPr>
          <p:cNvSpPr>
            <a:spLocks noGrp="1"/>
          </p:cNvSpPr>
          <p:nvPr/>
        </p:nvSpPr>
        <p:spPr>
          <a:xfrm>
            <a:off x="771525" y="4876800"/>
            <a:ext cx="2590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F63EB0CE-B47B-415A-9B4D-D4FEE5C8C240}"/>
              </a:ext>
            </a:extLst>
          </p:cNvPr>
          <p:cNvSpPr>
            <a:spLocks noGrp="1"/>
          </p:cNvSpPr>
          <p:nvPr/>
        </p:nvSpPr>
        <p:spPr>
          <a:xfrm>
            <a:off x="3448050" y="4819650"/>
            <a:ext cx="7524750" cy="457200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FCD1F5E2-3997-4CF6-B3B4-393CA6F3E425}"/>
              </a:ext>
            </a:extLst>
          </p:cNvPr>
          <p:cNvSpPr>
            <a:spLocks noGrp="1"/>
          </p:cNvSpPr>
          <p:nvPr/>
        </p:nvSpPr>
        <p:spPr>
          <a:xfrm>
            <a:off x="3533775" y="4876800"/>
            <a:ext cx="73533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Snapshot o versión Delta de entrenamiento y validación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F1CAC0BF-5345-4409-8192-214B321B2A69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2762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0EEA7111-02E0-4203-96E0-AB7DBC497FC2}"/>
              </a:ext>
            </a:extLst>
          </p:cNvPr>
          <p:cNvSpPr>
            <a:spLocks noGrp="1"/>
          </p:cNvSpPr>
          <p:nvPr/>
        </p:nvSpPr>
        <p:spPr>
          <a:xfrm>
            <a:off x="771525" y="5334000"/>
            <a:ext cx="2590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Modelo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268A4C1-9938-49A9-8D1F-787322C7D9B2}"/>
              </a:ext>
            </a:extLst>
          </p:cNvPr>
          <p:cNvSpPr>
            <a:spLocks noGrp="1"/>
          </p:cNvSpPr>
          <p:nvPr/>
        </p:nvSpPr>
        <p:spPr>
          <a:xfrm>
            <a:off x="3448050" y="5276850"/>
            <a:ext cx="7524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E83D8C6-E40F-48A6-A052-13ED3B4C4432}"/>
              </a:ext>
            </a:extLst>
          </p:cNvPr>
          <p:cNvSpPr>
            <a:spLocks noGrp="1"/>
          </p:cNvSpPr>
          <p:nvPr/>
        </p:nvSpPr>
        <p:spPr>
          <a:xfrm>
            <a:off x="3533775" y="5334000"/>
            <a:ext cx="73533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Artefacto, firma, métricas, parámetros y entorno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41005EFA-C742-44BE-B9B0-BE3CBE67DB44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2762250" cy="457200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11E0EB41-ABC6-46D5-B017-91781F653D96}"/>
              </a:ext>
            </a:extLst>
          </p:cNvPr>
          <p:cNvSpPr>
            <a:spLocks noGrp="1"/>
          </p:cNvSpPr>
          <p:nvPr/>
        </p:nvSpPr>
        <p:spPr>
          <a:xfrm>
            <a:off x="771525" y="5791200"/>
            <a:ext cx="2590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Operación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652FB358-D75F-43E4-88AB-9A2BE027FD18}"/>
              </a:ext>
            </a:extLst>
          </p:cNvPr>
          <p:cNvSpPr>
            <a:spLocks noGrp="1"/>
          </p:cNvSpPr>
          <p:nvPr/>
        </p:nvSpPr>
        <p:spPr>
          <a:xfrm>
            <a:off x="3448050" y="5734050"/>
            <a:ext cx="7524750" cy="457200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B8D7E15D-5A83-4879-9D28-0E47A51F9F04}"/>
              </a:ext>
            </a:extLst>
          </p:cNvPr>
          <p:cNvSpPr>
            <a:spLocks noGrp="1"/>
          </p:cNvSpPr>
          <p:nvPr/>
        </p:nvSpPr>
        <p:spPr>
          <a:xfrm>
            <a:off x="3533775" y="5791200"/>
            <a:ext cx="73533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Pruebas, infraestructura, monitoreo y aprobaciones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D10A9F78-9931-40A5-961B-956FB91FC0F4}"/>
              </a:ext>
            </a:extLst>
          </p:cNvPr>
          <p:cNvSpPr>
            <a:spLocks noGrp="1"/>
          </p:cNvSpPr>
          <p:nvPr/>
        </p:nvSpPr>
        <p:spPr>
          <a:xfrm>
            <a:off x="1619250" y="6191250"/>
            <a:ext cx="8953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ctr">
              <a:buNone/>
              <a:defRPr sz="90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D6B75"/>
                </a:solidFill>
                <a:latin typeface="Arial"/>
                <a:ea typeface="Arial"/>
                <a:cs typeface="Arial"/>
              </a:rPr>
              <a:t>Evidencia completa: 04_mlops_gobierno_modelo.html, celdas 6, 7, 10 y 25</a:t>
            </a:r>
          </a:p>
        </p:txBody>
      </p:sp>
    </p:spTree>
    <p:extLst>
      <p:ext uri="{BB962C8B-B14F-4D97-AF65-F5344CB8AC3E}">
        <p14:creationId xmlns:p14="http://schemas.microsoft.com/office/powerpoint/2010/main" val="472838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 43">
            <a:extLst>
              <a:ext uri="{FF2B5EF4-FFF2-40B4-BE49-F238E27FC236}">
                <a16:creationId xmlns:a16="http://schemas.microsoft.com/office/drawing/2014/main" id="{7B954F6A-453A-4F48-835B-DFF01185C1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49AAEA-01B5-4B9D-8A9F-CE25F94358CF}"/>
              </a:ext>
            </a:extLst>
          </p:cNvPr>
          <p:cNvSpPr>
            <a:spLocks noGrp="1"/>
          </p:cNvSpPr>
          <p:nvPr/>
        </p:nvSpPr>
        <p:spPr>
          <a:xfrm>
            <a:off x="495300" y="2571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>
              <a:buNone/>
              <a:defRPr sz="82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Ejercicio 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90E20E8-5117-4AB3-9F98-7657A089CFA5}"/>
              </a:ext>
            </a:extLst>
          </p:cNvPr>
          <p:cNvSpPr>
            <a:spLocks noGrp="1"/>
          </p:cNvSpPr>
          <p:nvPr/>
        </p:nvSpPr>
        <p:spPr>
          <a:xfrm>
            <a:off x="11239500" y="247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900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10FA44A-C87B-47D5-AADC-733283E22A6A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550" b="1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E"/>
                </a:solidFill>
                <a:latin typeface="Arial"/>
                <a:ea typeface="Arial"/>
                <a:cs typeface="Arial"/>
              </a:rPr>
              <a:t>La promoción cambia un alias después de superar controles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6ED9AAD-F94E-4D75-B58D-E89C3450A6A0}"/>
              </a:ext>
            </a:extLst>
          </p:cNvPr>
          <p:cNvSpPr>
            <a:spLocks noGrp="1"/>
          </p:cNvSpPr>
          <p:nvPr/>
        </p:nvSpPr>
        <p:spPr>
          <a:xfrm>
            <a:off x="514350" y="11144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B75"/>
                </a:solidFill>
                <a:latin typeface="Arial"/>
                <a:ea typeface="Arial"/>
                <a:cs typeface="Arial"/>
              </a:rPr>
              <a:t>Rollback significa restaurar una referencia conocida, no volver a entrenar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EADD6AB-71B5-43C9-8EDB-7F180E58BAB4}"/>
              </a:ext>
            </a:extLst>
          </p:cNvPr>
          <p:cNvSpPr>
            <a:spLocks noGrp="1"/>
          </p:cNvSpPr>
          <p:nvPr/>
        </p:nvSpPr>
        <p:spPr>
          <a:xfrm>
            <a:off x="495300" y="652462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>
              <a:buNone/>
              <a:defRPr sz="6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D6B75"/>
                </a:solidFill>
                <a:latin typeface="Arial"/>
                <a:ea typeface="Arial"/>
                <a:cs typeface="Arial"/>
              </a:rPr>
              <a:t>Prueba complementaria de Machine Learning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1BF6FE2-2898-44D5-A2D2-25C7D744061E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1809750" cy="952500"/>
          </a:xfrm>
          <a:prstGeom prst="rect">
            <a:avLst/>
          </a:prstGeom>
          <a:solidFill>
            <a:srgbClr val="E8EEF4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A0DD48-F6AE-4ABA-9C26-6197F62472D4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66675" cy="9525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01649F9-B254-4CFD-917A-9F79B4AFEED9}"/>
              </a:ext>
            </a:extLst>
          </p:cNvPr>
          <p:cNvSpPr>
            <a:spLocks noGrp="1"/>
          </p:cNvSpPr>
          <p:nvPr/>
        </p:nvSpPr>
        <p:spPr>
          <a:xfrm>
            <a:off x="762000" y="2019300"/>
            <a:ext cx="1485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34EEF7F-AE6B-4F1F-8B01-DE12CF9F4E61}"/>
              </a:ext>
            </a:extLst>
          </p:cNvPr>
          <p:cNvSpPr>
            <a:spLocks noGrp="1"/>
          </p:cNvSpPr>
          <p:nvPr/>
        </p:nvSpPr>
        <p:spPr>
          <a:xfrm>
            <a:off x="762000" y="2305050"/>
            <a:ext cx="14859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Versión registrada</a:t>
            </a:r>
          </a:p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sin tráfico productivo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59336183-21BA-4229-9AB0-07F322093228}"/>
              </a:ext>
            </a:extLst>
          </p:cNvPr>
          <p:cNvSpPr>
            <a:spLocks noGrp="1"/>
          </p:cNvSpPr>
          <p:nvPr/>
        </p:nvSpPr>
        <p:spPr>
          <a:xfrm>
            <a:off x="2476500" y="2247900"/>
            <a:ext cx="400050" cy="26670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B25E02F-7B75-4814-BBDA-CFE32441F655}"/>
              </a:ext>
            </a:extLst>
          </p:cNvPr>
          <p:cNvSpPr>
            <a:spLocks noGrp="1"/>
          </p:cNvSpPr>
          <p:nvPr/>
        </p:nvSpPr>
        <p:spPr>
          <a:xfrm>
            <a:off x="2971800" y="1905000"/>
            <a:ext cx="2000250" cy="952500"/>
          </a:xfrm>
          <a:prstGeom prst="rect">
            <a:avLst/>
          </a:prstGeom>
          <a:solidFill>
            <a:srgbClr val="F7EEDC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4A6D339-E4D7-42D3-9F81-BA34371B9578}"/>
              </a:ext>
            </a:extLst>
          </p:cNvPr>
          <p:cNvSpPr>
            <a:spLocks noGrp="1"/>
          </p:cNvSpPr>
          <p:nvPr/>
        </p:nvSpPr>
        <p:spPr>
          <a:xfrm>
            <a:off x="2971800" y="1905000"/>
            <a:ext cx="66675" cy="952500"/>
          </a:xfrm>
          <a:prstGeom prst="rect">
            <a:avLst/>
          </a:prstGeom>
          <a:solidFill>
            <a:srgbClr val="A76A12"/>
          </a:solidFill>
          <a:ln w="0">
            <a:solidFill>
              <a:srgbClr val="A76A12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A18DC7E-92CF-4C39-A307-C7C5D263B451}"/>
              </a:ext>
            </a:extLst>
          </p:cNvPr>
          <p:cNvSpPr>
            <a:spLocks noGrp="1"/>
          </p:cNvSpPr>
          <p:nvPr/>
        </p:nvSpPr>
        <p:spPr>
          <a:xfrm>
            <a:off x="3162300" y="2019300"/>
            <a:ext cx="16764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Puertas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D62E278-68D9-4A24-BB82-979FFFEB467E}"/>
              </a:ext>
            </a:extLst>
          </p:cNvPr>
          <p:cNvSpPr>
            <a:spLocks noGrp="1"/>
          </p:cNvSpPr>
          <p:nvPr/>
        </p:nvSpPr>
        <p:spPr>
          <a:xfrm>
            <a:off x="3162300" y="2305050"/>
            <a:ext cx="16764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Calidad, desempeño,</a:t>
            </a:r>
          </a:p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seguridad y compatibilidad</a:t>
            </a: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5BE20805-F5D4-4F64-83F4-08E81DA77096}"/>
              </a:ext>
            </a:extLst>
          </p:cNvPr>
          <p:cNvSpPr>
            <a:spLocks noGrp="1"/>
          </p:cNvSpPr>
          <p:nvPr/>
        </p:nvSpPr>
        <p:spPr>
          <a:xfrm>
            <a:off x="5067300" y="2247900"/>
            <a:ext cx="400050" cy="26670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9F2B3EF-FFF5-43A9-83BB-F63C0B705312}"/>
              </a:ext>
            </a:extLst>
          </p:cNvPr>
          <p:cNvSpPr>
            <a:spLocks noGrp="1"/>
          </p:cNvSpPr>
          <p:nvPr/>
        </p:nvSpPr>
        <p:spPr>
          <a:xfrm>
            <a:off x="5562600" y="1905000"/>
            <a:ext cx="1809750" cy="952500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1D8ACC4-339F-486D-A23E-E36CF35E6661}"/>
              </a:ext>
            </a:extLst>
          </p:cNvPr>
          <p:cNvSpPr>
            <a:spLocks noGrp="1"/>
          </p:cNvSpPr>
          <p:nvPr/>
        </p:nvSpPr>
        <p:spPr>
          <a:xfrm>
            <a:off x="5562600" y="1905000"/>
            <a:ext cx="66675" cy="9525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B90524D-30B8-4AEC-924F-BA33A31731D9}"/>
              </a:ext>
            </a:extLst>
          </p:cNvPr>
          <p:cNvSpPr>
            <a:spLocks noGrp="1"/>
          </p:cNvSpPr>
          <p:nvPr/>
        </p:nvSpPr>
        <p:spPr>
          <a:xfrm>
            <a:off x="5753100" y="2019300"/>
            <a:ext cx="1485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Aprobación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3161AFE-A51F-4A3C-A7A6-C786B0B0F8E6}"/>
              </a:ext>
            </a:extLst>
          </p:cNvPr>
          <p:cNvSpPr>
            <a:spLocks noGrp="1"/>
          </p:cNvSpPr>
          <p:nvPr/>
        </p:nvSpPr>
        <p:spPr>
          <a:xfrm>
            <a:off x="5753100" y="2305050"/>
            <a:ext cx="14859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88"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Responsable, evidencia</a:t>
            </a:r>
          </a:p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y segregación</a:t>
            </a:r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FAF5676C-5D00-4664-9FBF-9FAAC06261C4}"/>
              </a:ext>
            </a:extLst>
          </p:cNvPr>
          <p:cNvSpPr>
            <a:spLocks noGrp="1"/>
          </p:cNvSpPr>
          <p:nvPr/>
        </p:nvSpPr>
        <p:spPr>
          <a:xfrm>
            <a:off x="7467600" y="2247900"/>
            <a:ext cx="400050" cy="26670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5AEAE54-BBDD-43BD-842E-ED2033C751EB}"/>
              </a:ext>
            </a:extLst>
          </p:cNvPr>
          <p:cNvSpPr>
            <a:spLocks noGrp="1"/>
          </p:cNvSpPr>
          <p:nvPr/>
        </p:nvSpPr>
        <p:spPr>
          <a:xfrm>
            <a:off x="7962900" y="1905000"/>
            <a:ext cx="1809750" cy="952500"/>
          </a:xfrm>
          <a:prstGeom prst="rect">
            <a:avLst/>
          </a:prstGeom>
          <a:solidFill>
            <a:srgbClr val="E4F1F0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8D68B83-6932-47A4-9F68-D7FAF9E97830}"/>
              </a:ext>
            </a:extLst>
          </p:cNvPr>
          <p:cNvSpPr>
            <a:spLocks noGrp="1"/>
          </p:cNvSpPr>
          <p:nvPr/>
        </p:nvSpPr>
        <p:spPr>
          <a:xfrm>
            <a:off x="7962900" y="1905000"/>
            <a:ext cx="66675" cy="9525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E8AAD25-A21A-4280-AC96-43826DD5CC29}"/>
              </a:ext>
            </a:extLst>
          </p:cNvPr>
          <p:cNvSpPr>
            <a:spLocks noGrp="1"/>
          </p:cNvSpPr>
          <p:nvPr/>
        </p:nvSpPr>
        <p:spPr>
          <a:xfrm>
            <a:off x="8153400" y="2019300"/>
            <a:ext cx="1485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Champion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1F4FE6A-867E-4CAE-9169-804D32F64290}"/>
              </a:ext>
            </a:extLst>
          </p:cNvPr>
          <p:cNvSpPr>
            <a:spLocks noGrp="1"/>
          </p:cNvSpPr>
          <p:nvPr/>
        </p:nvSpPr>
        <p:spPr>
          <a:xfrm>
            <a:off x="8153400" y="2305050"/>
            <a:ext cx="14859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Alias estable para</a:t>
            </a:r>
          </a:p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los consumidores</a:t>
            </a:r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A2174B9D-81CE-4DE9-83EA-22FBD72D5649}"/>
              </a:ext>
            </a:extLst>
          </p:cNvPr>
          <p:cNvSpPr>
            <a:spLocks noGrp="1"/>
          </p:cNvSpPr>
          <p:nvPr/>
        </p:nvSpPr>
        <p:spPr>
          <a:xfrm>
            <a:off x="9867900" y="2247900"/>
            <a:ext cx="400050" cy="26670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CF95E38-F170-4DB1-A8E4-E7149B967725}"/>
              </a:ext>
            </a:extLst>
          </p:cNvPr>
          <p:cNvSpPr>
            <a:spLocks noGrp="1"/>
          </p:cNvSpPr>
          <p:nvPr/>
        </p:nvSpPr>
        <p:spPr>
          <a:xfrm>
            <a:off x="10363200" y="1905000"/>
            <a:ext cx="12382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9BD35D0-5C71-4209-B1AF-2FB3B16829EB}"/>
              </a:ext>
            </a:extLst>
          </p:cNvPr>
          <p:cNvSpPr>
            <a:spLocks noGrp="1"/>
          </p:cNvSpPr>
          <p:nvPr/>
        </p:nvSpPr>
        <p:spPr>
          <a:xfrm>
            <a:off x="10363200" y="1905000"/>
            <a:ext cx="66675" cy="9525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41DFA34-308D-46CB-9AE4-91F03C5AFDBF}"/>
              </a:ext>
            </a:extLst>
          </p:cNvPr>
          <p:cNvSpPr>
            <a:spLocks noGrp="1"/>
          </p:cNvSpPr>
          <p:nvPr/>
        </p:nvSpPr>
        <p:spPr>
          <a:xfrm>
            <a:off x="10553700" y="2019300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458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Observación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D54457C-6DA7-47B4-9294-357872445848}"/>
              </a:ext>
            </a:extLst>
          </p:cNvPr>
          <p:cNvSpPr>
            <a:spLocks noGrp="1"/>
          </p:cNvSpPr>
          <p:nvPr/>
        </p:nvSpPr>
        <p:spPr>
          <a:xfrm>
            <a:off x="10553700" y="2305050"/>
            <a:ext cx="9144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Canary o</a:t>
            </a:r>
          </a:p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shadow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6FB0F13-96BB-4D95-98C4-1E3B12354F67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4905375" cy="1619250"/>
          </a:xfrm>
          <a:prstGeom prst="rect">
            <a:avLst/>
          </a:prstGeom>
          <a:solidFill>
            <a:srgbClr val="F7EAEA"/>
          </a:solidFill>
          <a:ln w="9525">
            <a:solidFill>
              <a:srgbClr val="B74343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6B6694D2-D9F6-4A8A-9EFD-F5383FFA5FB6}"/>
              </a:ext>
            </a:extLst>
          </p:cNvPr>
          <p:cNvSpPr>
            <a:spLocks noGrp="1"/>
          </p:cNvSpPr>
          <p:nvPr/>
        </p:nvSpPr>
        <p:spPr>
          <a:xfrm>
            <a:off x="1000125" y="36957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273"/>
          </a:bodyPr>
          <a:lstStyle/>
          <a:p>
            <a:pPr>
              <a:buNone/>
              <a:defRPr sz="1650" b="1">
                <a:solidFill>
                  <a:srgbClr val="B743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74343"/>
                </a:solidFill>
                <a:latin typeface="Arial"/>
                <a:ea typeface="Arial"/>
                <a:cs typeface="Arial"/>
              </a:rPr>
              <a:t>Rollback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5883A88-4B6F-408C-897D-4CD25197EFED}"/>
              </a:ext>
            </a:extLst>
          </p:cNvPr>
          <p:cNvSpPr>
            <a:spLocks noGrp="1"/>
          </p:cNvSpPr>
          <p:nvPr/>
        </p:nvSpPr>
        <p:spPr>
          <a:xfrm>
            <a:off x="1000125" y="4095750"/>
            <a:ext cx="40957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2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42E"/>
                </a:solidFill>
                <a:latin typeface="Arial"/>
                <a:ea typeface="Arial"/>
                <a:cs typeface="Arial"/>
              </a:rPr>
              <a:t>1. Conservar la versión anterior.</a:t>
            </a:r>
          </a:p>
          <a:p>
            <a:pPr>
              <a:buNone/>
              <a:defRPr sz="12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42E"/>
                </a:solidFill>
                <a:latin typeface="Arial"/>
                <a:ea typeface="Arial"/>
                <a:cs typeface="Arial"/>
              </a:rPr>
              <a:t>2. Mover Champion a esa versión.</a:t>
            </a:r>
          </a:p>
          <a:p>
            <a:pPr>
              <a:buNone/>
              <a:defRPr sz="12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42E"/>
                </a:solidFill>
                <a:latin typeface="Arial"/>
                <a:ea typeface="Arial"/>
                <a:cs typeface="Arial"/>
              </a:rPr>
              <a:t>3. Validar el servicio y registrar el evento.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DCBF097-4DD6-4E67-9E46-A8EA74CBAEB3}"/>
              </a:ext>
            </a:extLst>
          </p:cNvPr>
          <p:cNvSpPr>
            <a:spLocks noGrp="1"/>
          </p:cNvSpPr>
          <p:nvPr/>
        </p:nvSpPr>
        <p:spPr>
          <a:xfrm>
            <a:off x="6334125" y="3476625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52"/>
          </a:bodyPr>
          <a:lstStyle/>
          <a:p>
            <a:pPr>
              <a:buNone/>
              <a:defRPr sz="15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Controles clave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DE95B10-0DB2-4484-B42E-F281CEC0632F}"/>
              </a:ext>
            </a:extLst>
          </p:cNvPr>
          <p:cNvSpPr>
            <a:spLocks noGrp="1"/>
          </p:cNvSpPr>
          <p:nvPr/>
        </p:nvSpPr>
        <p:spPr>
          <a:xfrm>
            <a:off x="6362700" y="3943350"/>
            <a:ext cx="114300" cy="1143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38569CE9-B642-4CA2-8C46-514A514EC7A2}"/>
              </a:ext>
            </a:extLst>
          </p:cNvPr>
          <p:cNvSpPr>
            <a:spLocks noGrp="1"/>
          </p:cNvSpPr>
          <p:nvPr/>
        </p:nvSpPr>
        <p:spPr>
          <a:xfrm>
            <a:off x="6667500" y="3829050"/>
            <a:ext cx="4191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0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42E"/>
                </a:solidFill>
                <a:latin typeface="Arial"/>
                <a:ea typeface="Arial"/>
                <a:cs typeface="Arial"/>
              </a:rPr>
              <a:t>Pruebas de contrato y datos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6CFF5153-5146-40BF-96D7-12D7AE415674}"/>
              </a:ext>
            </a:extLst>
          </p:cNvPr>
          <p:cNvSpPr>
            <a:spLocks noGrp="1"/>
          </p:cNvSpPr>
          <p:nvPr/>
        </p:nvSpPr>
        <p:spPr>
          <a:xfrm>
            <a:off x="6362700" y="4362450"/>
            <a:ext cx="114300" cy="1143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3DD4C937-F2F6-437B-85AA-B215F07BF3F2}"/>
              </a:ext>
            </a:extLst>
          </p:cNvPr>
          <p:cNvSpPr>
            <a:spLocks noGrp="1"/>
          </p:cNvSpPr>
          <p:nvPr/>
        </p:nvSpPr>
        <p:spPr>
          <a:xfrm>
            <a:off x="6667500" y="4248150"/>
            <a:ext cx="4191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0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42E"/>
                </a:solidFill>
                <a:latin typeface="Arial"/>
                <a:ea typeface="Arial"/>
                <a:cs typeface="Arial"/>
              </a:rPr>
              <a:t>Comparación contra el Champion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D1D6F629-5E93-430F-8909-5B23A494F37C}"/>
              </a:ext>
            </a:extLst>
          </p:cNvPr>
          <p:cNvSpPr>
            <a:spLocks noGrp="1"/>
          </p:cNvSpPr>
          <p:nvPr/>
        </p:nvSpPr>
        <p:spPr>
          <a:xfrm>
            <a:off x="6362700" y="4781550"/>
            <a:ext cx="114300" cy="1143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DF005A41-CA1E-4FE0-A98A-85C3E2589204}"/>
              </a:ext>
            </a:extLst>
          </p:cNvPr>
          <p:cNvSpPr>
            <a:spLocks noGrp="1"/>
          </p:cNvSpPr>
          <p:nvPr/>
        </p:nvSpPr>
        <p:spPr>
          <a:xfrm>
            <a:off x="6667500" y="4667250"/>
            <a:ext cx="4191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0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42E"/>
                </a:solidFill>
                <a:latin typeface="Arial"/>
                <a:ea typeface="Arial"/>
                <a:cs typeface="Arial"/>
              </a:rPr>
              <a:t>CI/CD con identidad de servicio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B2E45DA3-A37E-4FEA-8FB2-FBC383BB81BD}"/>
              </a:ext>
            </a:extLst>
          </p:cNvPr>
          <p:cNvSpPr>
            <a:spLocks noGrp="1"/>
          </p:cNvSpPr>
          <p:nvPr/>
        </p:nvSpPr>
        <p:spPr>
          <a:xfrm>
            <a:off x="6362700" y="5200650"/>
            <a:ext cx="114300" cy="1143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4E9B9481-8CAA-4C75-8AC2-ECD39F7DD39E}"/>
              </a:ext>
            </a:extLst>
          </p:cNvPr>
          <p:cNvSpPr>
            <a:spLocks noGrp="1"/>
          </p:cNvSpPr>
          <p:nvPr/>
        </p:nvSpPr>
        <p:spPr>
          <a:xfrm>
            <a:off x="6667500" y="5086350"/>
            <a:ext cx="4191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0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42E"/>
                </a:solidFill>
                <a:latin typeface="Arial"/>
                <a:ea typeface="Arial"/>
                <a:cs typeface="Arial"/>
              </a:rPr>
              <a:t>Aprobación y trazabilidad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89FFDC4B-22DB-43C8-8F44-886AE20DED24}"/>
              </a:ext>
            </a:extLst>
          </p:cNvPr>
          <p:cNvSpPr>
            <a:spLocks noGrp="1"/>
          </p:cNvSpPr>
          <p:nvPr/>
        </p:nvSpPr>
        <p:spPr>
          <a:xfrm>
            <a:off x="1619250" y="5905500"/>
            <a:ext cx="8953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90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D6B75"/>
                </a:solidFill>
                <a:latin typeface="Arial"/>
                <a:ea typeface="Arial"/>
                <a:cs typeface="Arial"/>
              </a:rPr>
              <a:t>Evidencia completa: 04_mlops_gobierno_modelo.html, celdas 14 a 22</a:t>
            </a:r>
          </a:p>
        </p:txBody>
      </p:sp>
    </p:spTree>
    <p:extLst>
      <p:ext uri="{BB962C8B-B14F-4D97-AF65-F5344CB8AC3E}">
        <p14:creationId xmlns:p14="http://schemas.microsoft.com/office/powerpoint/2010/main" val="1132881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ángulo 37">
            <a:extLst>
              <a:ext uri="{FF2B5EF4-FFF2-40B4-BE49-F238E27FC236}">
                <a16:creationId xmlns:a16="http://schemas.microsoft.com/office/drawing/2014/main" id="{4F9B041A-F614-4C7F-A621-D259B5A7DA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5E4EC4-ABAB-45F1-BBF7-FED54C3127C9}"/>
              </a:ext>
            </a:extLst>
          </p:cNvPr>
          <p:cNvSpPr>
            <a:spLocks noGrp="1"/>
          </p:cNvSpPr>
          <p:nvPr/>
        </p:nvSpPr>
        <p:spPr>
          <a:xfrm>
            <a:off x="495300" y="2571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>
              <a:buNone/>
              <a:defRPr sz="82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Ejercicio 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D7CF39F-2F20-4CB8-B1BC-248F6925C483}"/>
              </a:ext>
            </a:extLst>
          </p:cNvPr>
          <p:cNvSpPr>
            <a:spLocks noGrp="1"/>
          </p:cNvSpPr>
          <p:nvPr/>
        </p:nvSpPr>
        <p:spPr>
          <a:xfrm>
            <a:off x="11239500" y="247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900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35ABB09-483F-4BF3-8C06-4A70CB2DB2F2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550" b="1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E"/>
                </a:solidFill>
                <a:latin typeface="Arial"/>
                <a:ea typeface="Arial"/>
                <a:cs typeface="Arial"/>
              </a:rPr>
              <a:t>Promoción y rollback mediante aliases controlados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B6C0628-2F81-481A-93E5-1D80C74D9AD0}"/>
              </a:ext>
            </a:extLst>
          </p:cNvPr>
          <p:cNvSpPr>
            <a:spLocks noGrp="1"/>
          </p:cNvSpPr>
          <p:nvPr/>
        </p:nvSpPr>
        <p:spPr>
          <a:xfrm>
            <a:off x="514350" y="11144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B75"/>
                </a:solidFill>
                <a:latin typeface="Arial"/>
                <a:ea typeface="Arial"/>
                <a:cs typeface="Arial"/>
              </a:rPr>
              <a:t>MLflow y Unity Catalog desacoplan al consumidor de la versión física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10E093C-E30E-4139-9778-4776733A21F9}"/>
              </a:ext>
            </a:extLst>
          </p:cNvPr>
          <p:cNvSpPr>
            <a:spLocks noGrp="1"/>
          </p:cNvSpPr>
          <p:nvPr/>
        </p:nvSpPr>
        <p:spPr>
          <a:xfrm>
            <a:off x="495300" y="652462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>
              <a:buNone/>
              <a:defRPr sz="6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D6B75"/>
                </a:solidFill>
                <a:latin typeface="Arial"/>
                <a:ea typeface="Arial"/>
                <a:cs typeface="Arial"/>
              </a:rPr>
              <a:t>Prueba complementaria de Machine Learning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80CB943-F97C-4A94-AB44-C06B383DDFCA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5191125" cy="3524250"/>
          </a:xfrm>
          <a:prstGeom prst="rect">
            <a:avLst/>
          </a:prstGeom>
          <a:solidFill>
            <a:srgbClr val="E4F1F0"/>
          </a:solidFill>
          <a:ln w="9525">
            <a:solidFill>
              <a:srgbClr val="0B6E75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1CBF381-B1E1-4ECC-B5EE-1C93491ADE1C}"/>
              </a:ext>
            </a:extLst>
          </p:cNvPr>
          <p:cNvSpPr>
            <a:spLocks noGrp="1"/>
          </p:cNvSpPr>
          <p:nvPr/>
        </p:nvSpPr>
        <p:spPr>
          <a:xfrm>
            <a:off x="904875" y="1981200"/>
            <a:ext cx="4476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65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3. Promoción a producción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AF4FAE-1487-45BE-AAFD-D904BDF5B946}"/>
              </a:ext>
            </a:extLst>
          </p:cNvPr>
          <p:cNvSpPr>
            <a:spLocks noGrp="1"/>
          </p:cNvSpPr>
          <p:nvPr/>
        </p:nvSpPr>
        <p:spPr>
          <a:xfrm>
            <a:off x="933450" y="2505075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A279CE1-5C50-4D7B-969F-D808CC75DE75}"/>
              </a:ext>
            </a:extLst>
          </p:cNvPr>
          <p:cNvSpPr>
            <a:spLocks noGrp="1"/>
          </p:cNvSpPr>
          <p:nvPr/>
        </p:nvSpPr>
        <p:spPr>
          <a:xfrm>
            <a:off x="1381125" y="2486025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Git y CI/CD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B533840-8379-4B16-A835-E017D0CD0F0E}"/>
              </a:ext>
            </a:extLst>
          </p:cNvPr>
          <p:cNvSpPr>
            <a:spLocks noGrp="1"/>
          </p:cNvSpPr>
          <p:nvPr/>
        </p:nvSpPr>
        <p:spPr>
          <a:xfrm>
            <a:off x="2781300" y="245745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28"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Pull request aprobado y pipeline en Azure DevOps o GitHub Actions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5978896-8ACA-4E6B-8AA7-F05FD39D2D80}"/>
              </a:ext>
            </a:extLst>
          </p:cNvPr>
          <p:cNvSpPr>
            <a:spLocks noGrp="1"/>
          </p:cNvSpPr>
          <p:nvPr/>
        </p:nvSpPr>
        <p:spPr>
          <a:xfrm>
            <a:off x="933450" y="3133725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95F7407-2F86-451F-9EB7-27EF8A651590}"/>
              </a:ext>
            </a:extLst>
          </p:cNvPr>
          <p:cNvSpPr>
            <a:spLocks noGrp="1"/>
          </p:cNvSpPr>
          <p:nvPr/>
        </p:nvSpPr>
        <p:spPr>
          <a:xfrm>
            <a:off x="1381125" y="3114675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2D969BB-C0BE-4655-A764-5EEEA6A08E65}"/>
              </a:ext>
            </a:extLst>
          </p:cNvPr>
          <p:cNvSpPr>
            <a:spLocks noGrp="1"/>
          </p:cNvSpPr>
          <p:nvPr/>
        </p:nvSpPr>
        <p:spPr>
          <a:xfrm>
            <a:off x="2781300" y="308610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28"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MLflow registra la versión sin tráfico productivo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EE1C00C-9558-4F9E-B8EA-44FD502453DE}"/>
              </a:ext>
            </a:extLst>
          </p:cNvPr>
          <p:cNvSpPr>
            <a:spLocks noGrp="1"/>
          </p:cNvSpPr>
          <p:nvPr/>
        </p:nvSpPr>
        <p:spPr>
          <a:xfrm>
            <a:off x="933450" y="3762375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93B2790-40C7-4EDA-A759-599720F39BCC}"/>
              </a:ext>
            </a:extLst>
          </p:cNvPr>
          <p:cNvSpPr>
            <a:spLocks noGrp="1"/>
          </p:cNvSpPr>
          <p:nvPr/>
        </p:nvSpPr>
        <p:spPr>
          <a:xfrm>
            <a:off x="1381125" y="3743325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Gates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6A92C97-9F8A-4AF4-8D5B-ACCFA25BA021}"/>
              </a:ext>
            </a:extLst>
          </p:cNvPr>
          <p:cNvSpPr>
            <a:spLocks noGrp="1"/>
          </p:cNvSpPr>
          <p:nvPr/>
        </p:nvSpPr>
        <p:spPr>
          <a:xfrm>
            <a:off x="2781300" y="371475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28"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Datos, contrato, métricas, seguridad y compatibilidad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F4CC5D7-E761-4406-8EE2-29EBCBCB641F}"/>
              </a:ext>
            </a:extLst>
          </p:cNvPr>
          <p:cNvSpPr>
            <a:spLocks noGrp="1"/>
          </p:cNvSpPr>
          <p:nvPr/>
        </p:nvSpPr>
        <p:spPr>
          <a:xfrm>
            <a:off x="933450" y="4391025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7370793-C4A8-486B-A4E0-D6F24A7E16E7}"/>
              </a:ext>
            </a:extLst>
          </p:cNvPr>
          <p:cNvSpPr>
            <a:spLocks noGrp="1"/>
          </p:cNvSpPr>
          <p:nvPr/>
        </p:nvSpPr>
        <p:spPr>
          <a:xfrm>
            <a:off x="1381125" y="4371975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Champion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7B73B7A-6C01-4FFE-8F18-66A088AF08E9}"/>
              </a:ext>
            </a:extLst>
          </p:cNvPr>
          <p:cNvSpPr>
            <a:spLocks noGrp="1"/>
          </p:cNvSpPr>
          <p:nvPr/>
        </p:nvSpPr>
        <p:spPr>
          <a:xfrm>
            <a:off x="2781300" y="434340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28"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Una identidad de servicio mueve el alias tras la aprobación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E8EF428-57F0-4743-9F28-ED5F3F72DEAE}"/>
              </a:ext>
            </a:extLst>
          </p:cNvPr>
          <p:cNvSpPr>
            <a:spLocks noGrp="1"/>
          </p:cNvSpPr>
          <p:nvPr/>
        </p:nvSpPr>
        <p:spPr>
          <a:xfrm>
            <a:off x="6238875" y="1762125"/>
            <a:ext cx="5334000" cy="3524250"/>
          </a:xfrm>
          <a:prstGeom prst="rect">
            <a:avLst/>
          </a:prstGeom>
          <a:solidFill>
            <a:srgbClr val="F7EAEA"/>
          </a:solidFill>
          <a:ln w="9525">
            <a:solidFill>
              <a:srgbClr val="B74343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537C1E6-6EF7-49AF-ADA4-4B098A3ECC23}"/>
              </a:ext>
            </a:extLst>
          </p:cNvPr>
          <p:cNvSpPr>
            <a:spLocks noGrp="1"/>
          </p:cNvSpPr>
          <p:nvPr/>
        </p:nvSpPr>
        <p:spPr>
          <a:xfrm>
            <a:off x="6524625" y="1981200"/>
            <a:ext cx="4667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650" b="1">
                <a:solidFill>
                  <a:srgbClr val="B743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74343"/>
                </a:solidFill>
                <a:latin typeface="Arial"/>
                <a:ea typeface="Arial"/>
                <a:cs typeface="Arial"/>
              </a:rPr>
              <a:t>4. Ejecución del rollback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28F58E0-8ED0-4D78-A8E3-C20FC53A8E3E}"/>
              </a:ext>
            </a:extLst>
          </p:cNvPr>
          <p:cNvSpPr>
            <a:spLocks noGrp="1"/>
          </p:cNvSpPr>
          <p:nvPr/>
        </p:nvSpPr>
        <p:spPr>
          <a:xfrm>
            <a:off x="6553200" y="2505075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B743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434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1BED1D9-D977-41E1-8536-46DD9871C010}"/>
              </a:ext>
            </a:extLst>
          </p:cNvPr>
          <p:cNvSpPr>
            <a:spLocks noGrp="1"/>
          </p:cNvSpPr>
          <p:nvPr/>
        </p:nvSpPr>
        <p:spPr>
          <a:xfrm>
            <a:off x="7000875" y="2486025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Detectar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E4D6F45-9C89-4A9F-9EAE-43F5B36FC0C1}"/>
              </a:ext>
            </a:extLst>
          </p:cNvPr>
          <p:cNvSpPr>
            <a:spLocks noGrp="1"/>
          </p:cNvSpPr>
          <p:nvPr/>
        </p:nvSpPr>
        <p:spPr>
          <a:xfrm>
            <a:off x="8382000" y="245745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28"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Alerta técnica, degradación o incumplimiento del negocio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007B7FC-237E-4CEA-BE80-F7778F8F46F4}"/>
              </a:ext>
            </a:extLst>
          </p:cNvPr>
          <p:cNvSpPr>
            <a:spLocks noGrp="1"/>
          </p:cNvSpPr>
          <p:nvPr/>
        </p:nvSpPr>
        <p:spPr>
          <a:xfrm>
            <a:off x="6553200" y="3133725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B743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434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1169E98-A698-45E0-AD9D-7FC67811CE35}"/>
              </a:ext>
            </a:extLst>
          </p:cNvPr>
          <p:cNvSpPr>
            <a:spLocks noGrp="1"/>
          </p:cNvSpPr>
          <p:nvPr/>
        </p:nvSpPr>
        <p:spPr>
          <a:xfrm>
            <a:off x="7000875" y="3114675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Restaurar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9C73678-EECA-421E-ABD6-A6F71798D43B}"/>
              </a:ext>
            </a:extLst>
          </p:cNvPr>
          <p:cNvSpPr>
            <a:spLocks noGrp="1"/>
          </p:cNvSpPr>
          <p:nvPr/>
        </p:nvSpPr>
        <p:spPr>
          <a:xfrm>
            <a:off x="8382000" y="30861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28"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Mover Champion a PreviousChampion sin reentrenar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8F6951A-63C8-4408-A6BB-817B0C6D9D4A}"/>
              </a:ext>
            </a:extLst>
          </p:cNvPr>
          <p:cNvSpPr>
            <a:spLocks noGrp="1"/>
          </p:cNvSpPr>
          <p:nvPr/>
        </p:nvSpPr>
        <p:spPr>
          <a:xfrm>
            <a:off x="6553200" y="3762375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B743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434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C5D9AE1-8C60-4E85-A3AA-4A090A722673}"/>
              </a:ext>
            </a:extLst>
          </p:cNvPr>
          <p:cNvSpPr>
            <a:spLocks noGrp="1"/>
          </p:cNvSpPr>
          <p:nvPr/>
        </p:nvSpPr>
        <p:spPr>
          <a:xfrm>
            <a:off x="7000875" y="3743325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0B7EEA7-9B9F-496B-8E6F-588B59AF3E3B}"/>
              </a:ext>
            </a:extLst>
          </p:cNvPr>
          <p:cNvSpPr>
            <a:spLocks noGrp="1"/>
          </p:cNvSpPr>
          <p:nvPr/>
        </p:nvSpPr>
        <p:spPr>
          <a:xfrm>
            <a:off x="8382000" y="371475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28"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Smoke test, salud del servicio y consistencia de resultados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77091CB-A7AC-4E8C-8B38-B00E7CCE2A20}"/>
              </a:ext>
            </a:extLst>
          </p:cNvPr>
          <p:cNvSpPr>
            <a:spLocks noGrp="1"/>
          </p:cNvSpPr>
          <p:nvPr/>
        </p:nvSpPr>
        <p:spPr>
          <a:xfrm>
            <a:off x="6553200" y="4391025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B743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434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E95DBA7-4A1B-48C6-B5CF-DA7EC692C0C1}"/>
              </a:ext>
            </a:extLst>
          </p:cNvPr>
          <p:cNvSpPr>
            <a:spLocks noGrp="1"/>
          </p:cNvSpPr>
          <p:nvPr/>
        </p:nvSpPr>
        <p:spPr>
          <a:xfrm>
            <a:off x="7000875" y="4371975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Auditar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F8C8A82-AF2D-487D-A7E5-74122968F221}"/>
              </a:ext>
            </a:extLst>
          </p:cNvPr>
          <p:cNvSpPr>
            <a:spLocks noGrp="1"/>
          </p:cNvSpPr>
          <p:nvPr/>
        </p:nvSpPr>
        <p:spPr>
          <a:xfrm>
            <a:off x="8382000" y="43434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28"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Conservar la versión retirada y registrar responsable y motivo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15086163-C96E-4850-A1F1-4B50949389FC}"/>
              </a:ext>
            </a:extLst>
          </p:cNvPr>
          <p:cNvSpPr>
            <a:spLocks noGrp="1"/>
          </p:cNvSpPr>
          <p:nvPr/>
        </p:nvSpPr>
        <p:spPr>
          <a:xfrm>
            <a:off x="1143000" y="5572125"/>
            <a:ext cx="9906000" cy="4572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6F2E6CC-15BC-4316-A36D-9ADE6BED8ECF}"/>
              </a:ext>
            </a:extLst>
          </p:cNvPr>
          <p:cNvSpPr>
            <a:spLocks noGrp="1"/>
          </p:cNvSpPr>
          <p:nvPr/>
        </p:nvSpPr>
        <p:spPr>
          <a:xfrm>
            <a:off x="1476375" y="5648325"/>
            <a:ext cx="9239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Demostración ejecutada: promoción v1 a v2 y rollback v2 a v1, ambos registrados en la tabla de gobierno.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9297577A-A31E-4EF3-9FEC-5B58E6A21726}"/>
              </a:ext>
            </a:extLst>
          </p:cNvPr>
          <p:cNvSpPr>
            <a:spLocks noGrp="1"/>
          </p:cNvSpPr>
          <p:nvPr/>
        </p:nvSpPr>
        <p:spPr>
          <a:xfrm>
            <a:off x="1428750" y="6191250"/>
            <a:ext cx="9334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ctr">
              <a:buNone/>
              <a:defRPr sz="90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D6B75"/>
                </a:solidFill>
                <a:latin typeface="Arial"/>
                <a:ea typeface="Arial"/>
                <a:cs typeface="Arial"/>
              </a:rPr>
              <a:t>Evidencia completa: 04_mlops_gobierno_modelo.html, celdas 15 a 22 y 29</a:t>
            </a:r>
          </a:p>
        </p:txBody>
      </p:sp>
    </p:spTree>
    <p:extLst>
      <p:ext uri="{BB962C8B-B14F-4D97-AF65-F5344CB8AC3E}">
        <p14:creationId xmlns:p14="http://schemas.microsoft.com/office/powerpoint/2010/main" val="1883159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7D830BD4-1DDB-4536-9257-31D1ED0AF5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5F7C2CC-3146-4839-81ED-28D22B25291A}"/>
              </a:ext>
            </a:extLst>
          </p:cNvPr>
          <p:cNvSpPr>
            <a:spLocks noGrp="1"/>
          </p:cNvSpPr>
          <p:nvPr/>
        </p:nvSpPr>
        <p:spPr>
          <a:xfrm>
            <a:off x="495300" y="2571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>
              <a:buNone/>
              <a:defRPr sz="82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Ejercicio 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40355A2-FB51-47F7-A9F8-E17CD94AB32A}"/>
              </a:ext>
            </a:extLst>
          </p:cNvPr>
          <p:cNvSpPr>
            <a:spLocks noGrp="1"/>
          </p:cNvSpPr>
          <p:nvPr/>
        </p:nvSpPr>
        <p:spPr>
          <a:xfrm>
            <a:off x="11239500" y="247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900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69E495B-8849-41AA-8DC7-3C2B7E1FEFFB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550" b="1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E"/>
                </a:solidFill>
                <a:latin typeface="Arial"/>
                <a:ea typeface="Arial"/>
                <a:cs typeface="Arial"/>
              </a:rPr>
              <a:t>Modelo operativo de monitoreo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E46F7FA-B44A-4AAF-BBBB-D663406438B3}"/>
              </a:ext>
            </a:extLst>
          </p:cNvPr>
          <p:cNvSpPr>
            <a:spLocks noGrp="1"/>
          </p:cNvSpPr>
          <p:nvPr/>
        </p:nvSpPr>
        <p:spPr>
          <a:xfrm>
            <a:off x="514350" y="11144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B75"/>
                </a:solidFill>
                <a:latin typeface="Arial"/>
                <a:ea typeface="Arial"/>
                <a:cs typeface="Arial"/>
              </a:rPr>
              <a:t>Una señal activa un proceso de verificación, diagnóstico y decisión controlada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D5859C5-8E4D-4700-9A8D-86CC93348276}"/>
              </a:ext>
            </a:extLst>
          </p:cNvPr>
          <p:cNvSpPr>
            <a:spLocks noGrp="1"/>
          </p:cNvSpPr>
          <p:nvPr/>
        </p:nvSpPr>
        <p:spPr>
          <a:xfrm>
            <a:off x="495300" y="652462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>
              <a:buNone/>
              <a:defRPr sz="6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D6B75"/>
                </a:solidFill>
                <a:latin typeface="Arial"/>
                <a:ea typeface="Arial"/>
                <a:cs typeface="Arial"/>
              </a:rPr>
              <a:t>Prueba complementaria de Machine Learning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1B514A8-EDEC-4458-A6EF-61A320646BBB}"/>
              </a:ext>
            </a:extLst>
          </p:cNvPr>
          <p:cNvSpPr>
            <a:spLocks noGrp="1"/>
          </p:cNvSpPr>
          <p:nvPr/>
        </p:nvSpPr>
        <p:spPr>
          <a:xfrm>
            <a:off x="600075" y="1952625"/>
            <a:ext cx="2381250" cy="2190750"/>
          </a:xfrm>
          <a:prstGeom prst="rect">
            <a:avLst/>
          </a:prstGeom>
          <a:solidFill>
            <a:srgbClr val="F7EAEA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D655F8B-F668-42F2-A4C6-4880A2D5F220}"/>
              </a:ext>
            </a:extLst>
          </p:cNvPr>
          <p:cNvSpPr>
            <a:spLocks noGrp="1"/>
          </p:cNvSpPr>
          <p:nvPr/>
        </p:nvSpPr>
        <p:spPr>
          <a:xfrm>
            <a:off x="828675" y="2162175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>
              <a:buNone/>
              <a:defRPr sz="2175" b="1">
                <a:solidFill>
                  <a:srgbClr val="B743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7434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6F85B96-E85F-47A2-BC47-4ACB94C1D330}"/>
              </a:ext>
            </a:extLst>
          </p:cNvPr>
          <p:cNvSpPr>
            <a:spLocks noGrp="1"/>
          </p:cNvSpPr>
          <p:nvPr/>
        </p:nvSpPr>
        <p:spPr>
          <a:xfrm>
            <a:off x="828675" y="268605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>
              <a:buNone/>
              <a:defRPr sz="16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Señal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81F33-D14D-4632-9DD8-9D3892C991B4}"/>
              </a:ext>
            </a:extLst>
          </p:cNvPr>
          <p:cNvSpPr>
            <a:spLocks noGrp="1"/>
          </p:cNvSpPr>
          <p:nvPr/>
        </p:nvSpPr>
        <p:spPr>
          <a:xfrm>
            <a:off x="828675" y="3190875"/>
            <a:ext cx="19240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20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42E"/>
                </a:solidFill>
                <a:latin typeface="Arial"/>
                <a:ea typeface="Arial"/>
                <a:cs typeface="Arial"/>
              </a:rPr>
              <a:t>Cambian el score promedio y la tasa de casos marcados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EDEC705A-C915-4D62-B79E-B7FD503487A4}"/>
              </a:ext>
            </a:extLst>
          </p:cNvPr>
          <p:cNvSpPr>
            <a:spLocks noGrp="1"/>
          </p:cNvSpPr>
          <p:nvPr/>
        </p:nvSpPr>
        <p:spPr>
          <a:xfrm>
            <a:off x="3076575" y="2886075"/>
            <a:ext cx="266700" cy="22860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2BFD497-C493-4B95-B758-9DB6B1004442}"/>
              </a:ext>
            </a:extLst>
          </p:cNvPr>
          <p:cNvSpPr>
            <a:spLocks noGrp="1"/>
          </p:cNvSpPr>
          <p:nvPr/>
        </p:nvSpPr>
        <p:spPr>
          <a:xfrm>
            <a:off x="3457575" y="1952625"/>
            <a:ext cx="2381250" cy="2190750"/>
          </a:xfrm>
          <a:prstGeom prst="rect">
            <a:avLst/>
          </a:prstGeom>
          <a:solidFill>
            <a:srgbClr val="E8EEF4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9816477-1166-4370-A9D1-62DB953EF3A9}"/>
              </a:ext>
            </a:extLst>
          </p:cNvPr>
          <p:cNvSpPr>
            <a:spLocks noGrp="1"/>
          </p:cNvSpPr>
          <p:nvPr/>
        </p:nvSpPr>
        <p:spPr>
          <a:xfrm>
            <a:off x="3686175" y="2162175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>
              <a:buNone/>
              <a:defRPr sz="21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11086F9-344C-4825-B73E-7A9895ACA407}"/>
              </a:ext>
            </a:extLst>
          </p:cNvPr>
          <p:cNvSpPr>
            <a:spLocks noGrp="1"/>
          </p:cNvSpPr>
          <p:nvPr/>
        </p:nvSpPr>
        <p:spPr>
          <a:xfrm>
            <a:off x="3686175" y="268605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>
              <a:buNone/>
              <a:defRPr sz="16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Verificación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FC5F830-9140-432A-97F8-1DC085BB06B4}"/>
              </a:ext>
            </a:extLst>
          </p:cNvPr>
          <p:cNvSpPr>
            <a:spLocks noGrp="1"/>
          </p:cNvSpPr>
          <p:nvPr/>
        </p:nvSpPr>
        <p:spPr>
          <a:xfrm>
            <a:off x="3686175" y="3190875"/>
            <a:ext cx="19240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20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42E"/>
                </a:solidFill>
                <a:latin typeface="Arial"/>
                <a:ea typeface="Arial"/>
                <a:cs typeface="Arial"/>
              </a:rPr>
              <a:t>Se descartan fallas de datos, pipeline, versión y umbrales</a:t>
            </a: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24C7E59D-FBD9-4527-8564-94A5C2E55C91}"/>
              </a:ext>
            </a:extLst>
          </p:cNvPr>
          <p:cNvSpPr>
            <a:spLocks noGrp="1"/>
          </p:cNvSpPr>
          <p:nvPr/>
        </p:nvSpPr>
        <p:spPr>
          <a:xfrm>
            <a:off x="5934075" y="2886075"/>
            <a:ext cx="266700" cy="22860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124B90E-5797-44CE-B72E-C05181562851}"/>
              </a:ext>
            </a:extLst>
          </p:cNvPr>
          <p:cNvSpPr>
            <a:spLocks noGrp="1"/>
          </p:cNvSpPr>
          <p:nvPr/>
        </p:nvSpPr>
        <p:spPr>
          <a:xfrm>
            <a:off x="6315075" y="1952625"/>
            <a:ext cx="2381250" cy="2190750"/>
          </a:xfrm>
          <a:prstGeom prst="rect">
            <a:avLst/>
          </a:prstGeom>
          <a:solidFill>
            <a:srgbClr val="E4F1F0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B8855AB-474E-468E-9125-A987A90E88FB}"/>
              </a:ext>
            </a:extLst>
          </p:cNvPr>
          <p:cNvSpPr>
            <a:spLocks noGrp="1"/>
          </p:cNvSpPr>
          <p:nvPr/>
        </p:nvSpPr>
        <p:spPr>
          <a:xfrm>
            <a:off x="6543675" y="2162175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>
              <a:buNone/>
              <a:defRPr sz="217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DCDC8CD-0E06-4B34-831A-BA6CBC5272A7}"/>
              </a:ext>
            </a:extLst>
          </p:cNvPr>
          <p:cNvSpPr>
            <a:spLocks noGrp="1"/>
          </p:cNvSpPr>
          <p:nvPr/>
        </p:nvSpPr>
        <p:spPr>
          <a:xfrm>
            <a:off x="6543675" y="268605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>
              <a:buNone/>
              <a:defRPr sz="16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Diagnóstico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E89FDF0-62C8-49C8-A07F-618B107B5663}"/>
              </a:ext>
            </a:extLst>
          </p:cNvPr>
          <p:cNvSpPr>
            <a:spLocks noGrp="1"/>
          </p:cNvSpPr>
          <p:nvPr/>
        </p:nvSpPr>
        <p:spPr>
          <a:xfrm>
            <a:off x="6543675" y="3190875"/>
            <a:ext cx="19240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20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42E"/>
                </a:solidFill>
                <a:latin typeface="Arial"/>
                <a:ea typeface="Arial"/>
                <a:cs typeface="Arial"/>
              </a:rPr>
              <a:t>Se comparan entradas, predicciones, segmentos y periodos</a:t>
            </a:r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B6A64D22-8DEF-4E5D-A27C-D516F39F4392}"/>
              </a:ext>
            </a:extLst>
          </p:cNvPr>
          <p:cNvSpPr>
            <a:spLocks noGrp="1"/>
          </p:cNvSpPr>
          <p:nvPr/>
        </p:nvSpPr>
        <p:spPr>
          <a:xfrm>
            <a:off x="8791575" y="2886075"/>
            <a:ext cx="266700" cy="22860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606078B-1979-484B-B874-5BA60C5F72AF}"/>
              </a:ext>
            </a:extLst>
          </p:cNvPr>
          <p:cNvSpPr>
            <a:spLocks noGrp="1"/>
          </p:cNvSpPr>
          <p:nvPr/>
        </p:nvSpPr>
        <p:spPr>
          <a:xfrm>
            <a:off x="9172575" y="1952625"/>
            <a:ext cx="2381250" cy="2190750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B3E8184-B4FB-4656-A81D-C1115B81E4D6}"/>
              </a:ext>
            </a:extLst>
          </p:cNvPr>
          <p:cNvSpPr>
            <a:spLocks noGrp="1"/>
          </p:cNvSpPr>
          <p:nvPr/>
        </p:nvSpPr>
        <p:spPr>
          <a:xfrm>
            <a:off x="9401175" y="2162175"/>
            <a:ext cx="4953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>
              <a:buNone/>
              <a:defRPr sz="2175" b="1">
                <a:solidFill>
                  <a:srgbClr val="A76A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76A1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6923C65-FD12-4F02-970E-15B724BDD9A8}"/>
              </a:ext>
            </a:extLst>
          </p:cNvPr>
          <p:cNvSpPr>
            <a:spLocks noGrp="1"/>
          </p:cNvSpPr>
          <p:nvPr/>
        </p:nvSpPr>
        <p:spPr>
          <a:xfrm>
            <a:off x="9401175" y="268605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>
              <a:buNone/>
              <a:defRPr sz="16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Decisión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F57D414-8452-4A70-BFD9-C03FAD47D17A}"/>
              </a:ext>
            </a:extLst>
          </p:cNvPr>
          <p:cNvSpPr>
            <a:spLocks noGrp="1"/>
          </p:cNvSpPr>
          <p:nvPr/>
        </p:nvSpPr>
        <p:spPr>
          <a:xfrm>
            <a:off x="9401175" y="3190875"/>
            <a:ext cx="19240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20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42E"/>
                </a:solidFill>
                <a:latin typeface="Arial"/>
                <a:ea typeface="Arial"/>
                <a:cs typeface="Arial"/>
              </a:rPr>
              <a:t>Se corrige, calibra, observa o reentrena según la evidencia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E077AB6-9A6B-4CF6-B0C2-ACE7823F8F39}"/>
              </a:ext>
            </a:extLst>
          </p:cNvPr>
          <p:cNvSpPr>
            <a:spLocks noGrp="1"/>
          </p:cNvSpPr>
          <p:nvPr/>
        </p:nvSpPr>
        <p:spPr>
          <a:xfrm>
            <a:off x="685800" y="463867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52"/>
          </a:bodyPr>
          <a:lstStyle/>
          <a:p>
            <a:pPr>
              <a:buNone/>
              <a:defRPr sz="15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Preguntas que debe responder el monitoreo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29211E2-66C4-46B2-8B8E-2E99A82B3F0B}"/>
              </a:ext>
            </a:extLst>
          </p:cNvPr>
          <p:cNvSpPr>
            <a:spLocks noGrp="1"/>
          </p:cNvSpPr>
          <p:nvPr/>
        </p:nvSpPr>
        <p:spPr>
          <a:xfrm>
            <a:off x="1000125" y="51435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Data drift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036E9-652E-48E7-9592-E5BB31CAEE39}"/>
              </a:ext>
            </a:extLst>
          </p:cNvPr>
          <p:cNvSpPr>
            <a:spLocks noGrp="1"/>
          </p:cNvSpPr>
          <p:nvPr/>
        </p:nvSpPr>
        <p:spPr>
          <a:xfrm>
            <a:off x="1000125" y="54673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D6B75"/>
                </a:solidFill>
                <a:latin typeface="Arial"/>
                <a:ea typeface="Arial"/>
                <a:cs typeface="Arial"/>
              </a:rPr>
              <a:t>¿Cambió la población?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B429E2A-B7AA-48F4-BD27-A8703D3518C4}"/>
              </a:ext>
            </a:extLst>
          </p:cNvPr>
          <p:cNvSpPr>
            <a:spLocks noGrp="1"/>
          </p:cNvSpPr>
          <p:nvPr/>
        </p:nvSpPr>
        <p:spPr>
          <a:xfrm>
            <a:off x="4524375" y="514350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Prediction drift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ED6F95B-869C-4121-83EE-83E1F6A67F44}"/>
              </a:ext>
            </a:extLst>
          </p:cNvPr>
          <p:cNvSpPr>
            <a:spLocks noGrp="1"/>
          </p:cNvSpPr>
          <p:nvPr/>
        </p:nvSpPr>
        <p:spPr>
          <a:xfrm>
            <a:off x="4524375" y="54673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D6B75"/>
                </a:solidFill>
                <a:latin typeface="Arial"/>
                <a:ea typeface="Arial"/>
                <a:cs typeface="Arial"/>
              </a:rPr>
              <a:t>¿Cambió la salida?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C6C7AD5-9074-4C33-A298-BC3F092B42C8}"/>
              </a:ext>
            </a:extLst>
          </p:cNvPr>
          <p:cNvSpPr>
            <a:spLocks noGrp="1"/>
          </p:cNvSpPr>
          <p:nvPr/>
        </p:nvSpPr>
        <p:spPr>
          <a:xfrm>
            <a:off x="8334375" y="51435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buNone/>
              <a:defRPr sz="1350" b="1">
                <a:solidFill>
                  <a:srgbClr val="A76A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76A12"/>
                </a:solidFill>
                <a:latin typeface="Arial"/>
                <a:ea typeface="Arial"/>
                <a:cs typeface="Arial"/>
              </a:rPr>
              <a:t>Desempeño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C7B0395-E507-4053-872F-DB7153C56250}"/>
              </a:ext>
            </a:extLst>
          </p:cNvPr>
          <p:cNvSpPr>
            <a:spLocks noGrp="1"/>
          </p:cNvSpPr>
          <p:nvPr/>
        </p:nvSpPr>
        <p:spPr>
          <a:xfrm>
            <a:off x="8096250" y="546735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12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D6B75"/>
                </a:solidFill>
                <a:latin typeface="Arial"/>
                <a:ea typeface="Arial"/>
                <a:cs typeface="Arial"/>
              </a:rPr>
              <a:t>¿Sigue resolviendo el problema?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172BBFA-A8DC-4147-B659-A4697505D3C3}"/>
              </a:ext>
            </a:extLst>
          </p:cNvPr>
          <p:cNvSpPr>
            <a:spLocks noGrp="1"/>
          </p:cNvSpPr>
          <p:nvPr/>
        </p:nvSpPr>
        <p:spPr>
          <a:xfrm>
            <a:off x="1809750" y="6115050"/>
            <a:ext cx="8572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ctr">
              <a:buNone/>
              <a:defRPr sz="90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D6B75"/>
                </a:solidFill>
                <a:latin typeface="Arial"/>
                <a:ea typeface="Arial"/>
                <a:cs typeface="Arial"/>
              </a:rPr>
              <a:t>Evidencia completa: 05_monitoreo_operacional_drift 3..html</a:t>
            </a:r>
          </a:p>
        </p:txBody>
      </p:sp>
    </p:spTree>
    <p:extLst>
      <p:ext uri="{BB962C8B-B14F-4D97-AF65-F5344CB8AC3E}">
        <p14:creationId xmlns:p14="http://schemas.microsoft.com/office/powerpoint/2010/main" val="2101312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 36">
            <a:extLst>
              <a:ext uri="{FF2B5EF4-FFF2-40B4-BE49-F238E27FC236}">
                <a16:creationId xmlns:a16="http://schemas.microsoft.com/office/drawing/2014/main" id="{BE63475A-9026-49C8-B18C-874AA65B63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193B1DD-BA5C-4E26-96C1-78FCB0C2A127}"/>
              </a:ext>
            </a:extLst>
          </p:cNvPr>
          <p:cNvSpPr>
            <a:spLocks noGrp="1"/>
          </p:cNvSpPr>
          <p:nvPr/>
        </p:nvSpPr>
        <p:spPr>
          <a:xfrm>
            <a:off x="495300" y="2571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>
              <a:buNone/>
              <a:defRPr sz="82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Ejercicio 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FD7A8CF-D7E5-4F39-903D-6820CFB5748B}"/>
              </a:ext>
            </a:extLst>
          </p:cNvPr>
          <p:cNvSpPr>
            <a:spLocks noGrp="1"/>
          </p:cNvSpPr>
          <p:nvPr/>
        </p:nvSpPr>
        <p:spPr>
          <a:xfrm>
            <a:off x="11239500" y="247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900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4BDEAE5-DEB0-452B-BFE8-E2C68A5E0900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550" b="1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E"/>
                </a:solidFill>
                <a:latin typeface="Arial"/>
                <a:ea typeface="Arial"/>
                <a:cs typeface="Arial"/>
              </a:rPr>
              <a:t>Primera respuesta ante una anomalía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685B1C-2A2B-4AF8-B5EC-56A5FA628867}"/>
              </a:ext>
            </a:extLst>
          </p:cNvPr>
          <p:cNvSpPr>
            <a:spLocks noGrp="1"/>
          </p:cNvSpPr>
          <p:nvPr/>
        </p:nvSpPr>
        <p:spPr>
          <a:xfrm>
            <a:off x="514350" y="11144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B75"/>
                </a:solidFill>
                <a:latin typeface="Arial"/>
                <a:ea typeface="Arial"/>
                <a:cs typeface="Arial"/>
              </a:rPr>
              <a:t>La prioridad es descartar fallas técnicas y cambios operativos antes de intervenir el modelo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277ED6C-957E-4CF6-B625-9897B86D853A}"/>
              </a:ext>
            </a:extLst>
          </p:cNvPr>
          <p:cNvSpPr>
            <a:spLocks noGrp="1"/>
          </p:cNvSpPr>
          <p:nvPr/>
        </p:nvSpPr>
        <p:spPr>
          <a:xfrm>
            <a:off x="495300" y="652462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>
              <a:buNone/>
              <a:defRPr sz="6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D6B75"/>
                </a:solidFill>
                <a:latin typeface="Arial"/>
                <a:ea typeface="Arial"/>
                <a:cs typeface="Arial"/>
              </a:rPr>
              <a:t>Prueba complementaria de Machine Learning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889260F-37B0-42BF-9FC5-1A403A6FCA1F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52"/>
          </a:bodyPr>
          <a:lstStyle/>
          <a:p>
            <a:pPr>
              <a:buNone/>
              <a:defRPr sz="15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Señales observadas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1D5F9C-8A32-4B9E-8E08-CFAF9A8AA0CC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4095750" cy="2686050"/>
          </a:xfrm>
          <a:prstGeom prst="rect">
            <a:avLst/>
          </a:prstGeom>
          <a:solidFill>
            <a:srgbClr val="E8EEF4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C1B5B3F-B162-4079-ABBF-C503C58ADA5E}"/>
              </a:ext>
            </a:extLst>
          </p:cNvPr>
          <p:cNvSpPr>
            <a:spLocks noGrp="1"/>
          </p:cNvSpPr>
          <p:nvPr/>
        </p:nvSpPr>
        <p:spPr>
          <a:xfrm>
            <a:off x="952500" y="23050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>
              <a:buNone/>
              <a:defRPr sz="975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REFERENCIA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2711984-40F9-45B0-AB8D-579B0854CE14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15716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0.6198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D7035BB-6689-4864-85B5-F49EF82B63F4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>
              <a:buNone/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B75"/>
                </a:solidFill>
                <a:latin typeface="Arial"/>
                <a:ea typeface="Arial"/>
                <a:cs typeface="Arial"/>
              </a:rPr>
              <a:t>score promedio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B1AE90A-32C9-4051-9772-03932D949391}"/>
              </a:ext>
            </a:extLst>
          </p:cNvPr>
          <p:cNvSpPr>
            <a:spLocks noGrp="1"/>
          </p:cNvSpPr>
          <p:nvPr/>
        </p:nvSpPr>
        <p:spPr>
          <a:xfrm>
            <a:off x="933450" y="3543300"/>
            <a:ext cx="1571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32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63.05%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6C91F1-CCE5-418E-BE24-C842D16735AE}"/>
              </a:ext>
            </a:extLst>
          </p:cNvPr>
          <p:cNvSpPr>
            <a:spLocks noGrp="1"/>
          </p:cNvSpPr>
          <p:nvPr/>
        </p:nvSpPr>
        <p:spPr>
          <a:xfrm>
            <a:off x="952500" y="3971925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>
              <a:buNone/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B75"/>
                </a:solidFill>
                <a:latin typeface="Arial"/>
                <a:ea typeface="Arial"/>
                <a:cs typeface="Arial"/>
              </a:rPr>
              <a:t>casos marcados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0BA1AFC-7E6D-461A-92C3-164A6C32C6F6}"/>
              </a:ext>
            </a:extLst>
          </p:cNvPr>
          <p:cNvSpPr>
            <a:spLocks noGrp="1"/>
          </p:cNvSpPr>
          <p:nvPr/>
        </p:nvSpPr>
        <p:spPr>
          <a:xfrm>
            <a:off x="2647950" y="2333625"/>
            <a:ext cx="19050" cy="1924050"/>
          </a:xfrm>
          <a:prstGeom prst="rect">
            <a:avLst/>
          </a:prstGeom>
          <a:solidFill>
            <a:srgbClr val="D9E1E6"/>
          </a:solidFill>
          <a:ln w="0">
            <a:solidFill>
              <a:srgbClr val="D9E1E6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3A7FA25-33A6-40E6-B5B7-2A826D874F5F}"/>
              </a:ext>
            </a:extLst>
          </p:cNvPr>
          <p:cNvSpPr>
            <a:spLocks noGrp="1"/>
          </p:cNvSpPr>
          <p:nvPr/>
        </p:nvSpPr>
        <p:spPr>
          <a:xfrm>
            <a:off x="2952750" y="23050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>
              <a:buNone/>
              <a:defRPr sz="975" b="1">
                <a:solidFill>
                  <a:srgbClr val="B7434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4343"/>
                </a:solidFill>
                <a:latin typeface="Arial"/>
                <a:ea typeface="Arial"/>
                <a:cs typeface="Arial"/>
              </a:rPr>
              <a:t>CUATRO MESES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9F68D5A-C7F5-4F35-8EF8-BC5135C8151C}"/>
              </a:ext>
            </a:extLst>
          </p:cNvPr>
          <p:cNvSpPr>
            <a:spLocks noGrp="1"/>
          </p:cNvSpPr>
          <p:nvPr/>
        </p:nvSpPr>
        <p:spPr>
          <a:xfrm>
            <a:off x="2933700" y="2609850"/>
            <a:ext cx="1571625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B743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74343"/>
                </a:solidFill>
                <a:latin typeface="Arial"/>
                <a:ea typeface="Arial"/>
                <a:cs typeface="Arial"/>
              </a:rPr>
              <a:t>0.7157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1E56D18-5EB7-4F35-A134-8DA1AE1809BE}"/>
              </a:ext>
            </a:extLst>
          </p:cNvPr>
          <p:cNvSpPr>
            <a:spLocks noGrp="1"/>
          </p:cNvSpPr>
          <p:nvPr/>
        </p:nvSpPr>
        <p:spPr>
          <a:xfrm>
            <a:off x="2952750" y="3105150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>
              <a:buNone/>
              <a:defRPr sz="10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B75"/>
                </a:solidFill>
                <a:latin typeface="Arial"/>
                <a:ea typeface="Arial"/>
                <a:cs typeface="Arial"/>
              </a:rPr>
              <a:t>score promedio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DEF5868-7688-4093-800B-C24D8EA0EDBD}"/>
              </a:ext>
            </a:extLst>
          </p:cNvPr>
          <p:cNvSpPr>
            <a:spLocks noGrp="1"/>
          </p:cNvSpPr>
          <p:nvPr/>
        </p:nvSpPr>
        <p:spPr>
          <a:xfrm>
            <a:off x="2933700" y="3543300"/>
            <a:ext cx="1571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325" b="1">
                <a:solidFill>
                  <a:srgbClr val="B743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74343"/>
                </a:solidFill>
                <a:latin typeface="Arial"/>
                <a:ea typeface="Arial"/>
                <a:cs typeface="Arial"/>
              </a:rPr>
              <a:t>88.27%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2BE5CD9-F052-478D-A16C-DCA2300D0572}"/>
              </a:ext>
            </a:extLst>
          </p:cNvPr>
          <p:cNvSpPr>
            <a:spLocks noGrp="1"/>
          </p:cNvSpPr>
          <p:nvPr/>
        </p:nvSpPr>
        <p:spPr>
          <a:xfrm>
            <a:off x="2952750" y="3971925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>
              <a:buNone/>
              <a:defRPr sz="1050" b="1">
                <a:solidFill>
                  <a:srgbClr val="B743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74343"/>
                </a:solidFill>
                <a:latin typeface="Arial"/>
                <a:ea typeface="Arial"/>
                <a:cs typeface="Arial"/>
              </a:rPr>
              <a:t>+40% relativo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E4B2AF7-AEA4-459D-9030-CFF34654CEEB}"/>
              </a:ext>
            </a:extLst>
          </p:cNvPr>
          <p:cNvSpPr>
            <a:spLocks noGrp="1"/>
          </p:cNvSpPr>
          <p:nvPr/>
        </p:nvSpPr>
        <p:spPr>
          <a:xfrm>
            <a:off x="1000125" y="4391025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ctr">
              <a:buNone/>
              <a:defRPr sz="9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D6B75"/>
                </a:solidFill>
                <a:latin typeface="Arial"/>
                <a:ea typeface="Arial"/>
                <a:cs typeface="Arial"/>
              </a:rPr>
              <a:t>12,776 casos comparables en cada periodo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3A17EBF-F5CF-4E62-8A63-59F825F799FC}"/>
              </a:ext>
            </a:extLst>
          </p:cNvPr>
          <p:cNvSpPr>
            <a:spLocks noGrp="1"/>
          </p:cNvSpPr>
          <p:nvPr/>
        </p:nvSpPr>
        <p:spPr>
          <a:xfrm>
            <a:off x="5381625" y="165735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52"/>
          </a:bodyPr>
          <a:lstStyle/>
          <a:p>
            <a:pPr>
              <a:buNone/>
              <a:defRPr sz="15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Qué verificaría primero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DF70191-B83F-41DC-AE72-5271CFAA143D}"/>
              </a:ext>
            </a:extLst>
          </p:cNvPr>
          <p:cNvSpPr>
            <a:spLocks noGrp="1"/>
          </p:cNvSpPr>
          <p:nvPr/>
        </p:nvSpPr>
        <p:spPr>
          <a:xfrm>
            <a:off x="5429250" y="2114550"/>
            <a:ext cx="438150" cy="438150"/>
          </a:xfrm>
          <a:prstGeom prst="rect">
            <a:avLst/>
          </a:prstGeom>
          <a:solidFill>
            <a:srgbClr val="B74343"/>
          </a:solidFill>
          <a:ln w="0">
            <a:solidFill>
              <a:srgbClr val="B74343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64CFD00-9006-43B3-A9EE-0A0C844F3AE1}"/>
              </a:ext>
            </a:extLst>
          </p:cNvPr>
          <p:cNvSpPr>
            <a:spLocks noGrp="1"/>
          </p:cNvSpPr>
          <p:nvPr/>
        </p:nvSpPr>
        <p:spPr>
          <a:xfrm>
            <a:off x="5438775" y="21145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0AF5EB5-B8F5-47A1-989D-4DB6F68E998B}"/>
              </a:ext>
            </a:extLst>
          </p:cNvPr>
          <p:cNvSpPr>
            <a:spLocks noGrp="1"/>
          </p:cNvSpPr>
          <p:nvPr/>
        </p:nvSpPr>
        <p:spPr>
          <a:xfrm>
            <a:off x="6096000" y="2085975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Integridad técnica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85C6859-9460-4435-8BB0-C95645D05EE6}"/>
              </a:ext>
            </a:extLst>
          </p:cNvPr>
          <p:cNvSpPr>
            <a:spLocks noGrp="1"/>
          </p:cNvSpPr>
          <p:nvPr/>
        </p:nvSpPr>
        <p:spPr>
          <a:xfrm>
            <a:off x="6096000" y="2381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42E"/>
                </a:solidFill>
                <a:latin typeface="Arial"/>
                <a:ea typeface="Arial"/>
                <a:cs typeface="Arial"/>
              </a:rPr>
              <a:t>Volumen, esquema, nulos, duplicados, ejecución y versión Champion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5069C03-F821-469E-957D-C62B571D2FC9}"/>
              </a:ext>
            </a:extLst>
          </p:cNvPr>
          <p:cNvSpPr>
            <a:spLocks noGrp="1"/>
          </p:cNvSpPr>
          <p:nvPr/>
        </p:nvSpPr>
        <p:spPr>
          <a:xfrm>
            <a:off x="5429250" y="3028950"/>
            <a:ext cx="438150" cy="43815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5CFB5F0-F4DC-4865-AF05-BFAEF7698686}"/>
              </a:ext>
            </a:extLst>
          </p:cNvPr>
          <p:cNvSpPr>
            <a:spLocks noGrp="1"/>
          </p:cNvSpPr>
          <p:nvPr/>
        </p:nvSpPr>
        <p:spPr>
          <a:xfrm>
            <a:off x="5438775" y="30289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FDD5F12-05DA-40C2-AA85-466B653D5226}"/>
              </a:ext>
            </a:extLst>
          </p:cNvPr>
          <p:cNvSpPr>
            <a:spLocks noGrp="1"/>
          </p:cNvSpPr>
          <p:nvPr/>
        </p:nvSpPr>
        <p:spPr>
          <a:xfrm>
            <a:off x="6096000" y="3000375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Cambios operativos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D953B56-194C-407F-AFD8-5F3DB36A6535}"/>
              </a:ext>
            </a:extLst>
          </p:cNvPr>
          <p:cNvSpPr>
            <a:spLocks noGrp="1"/>
          </p:cNvSpPr>
          <p:nvPr/>
        </p:nvSpPr>
        <p:spPr>
          <a:xfrm>
            <a:off x="6096000" y="32956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42E"/>
                </a:solidFill>
                <a:latin typeface="Arial"/>
                <a:ea typeface="Arial"/>
                <a:cs typeface="Arial"/>
              </a:rPr>
              <a:t>Umbrales, reglas, canales, campañas y políticas del negocio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DFC6A12-C2CE-4489-9639-78774E8592E7}"/>
              </a:ext>
            </a:extLst>
          </p:cNvPr>
          <p:cNvSpPr>
            <a:spLocks noGrp="1"/>
          </p:cNvSpPr>
          <p:nvPr/>
        </p:nvSpPr>
        <p:spPr>
          <a:xfrm>
            <a:off x="5429250" y="3943350"/>
            <a:ext cx="438150" cy="43815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0F1E28D0-8748-4A4D-A94C-32CAE3048A43}"/>
              </a:ext>
            </a:extLst>
          </p:cNvPr>
          <p:cNvSpPr>
            <a:spLocks noGrp="1"/>
          </p:cNvSpPr>
          <p:nvPr/>
        </p:nvSpPr>
        <p:spPr>
          <a:xfrm>
            <a:off x="5438775" y="39433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98CC1CE-1EBF-43DF-BCBA-C38734A27F7A}"/>
              </a:ext>
            </a:extLst>
          </p:cNvPr>
          <p:cNvSpPr>
            <a:spLocks noGrp="1"/>
          </p:cNvSpPr>
          <p:nvPr/>
        </p:nvSpPr>
        <p:spPr>
          <a:xfrm>
            <a:off x="6096000" y="3914775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Localización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8257623-2302-4E1E-97B8-F5C2A77CC520}"/>
              </a:ext>
            </a:extLst>
          </p:cNvPr>
          <p:cNvSpPr>
            <a:spLocks noGrp="1"/>
          </p:cNvSpPr>
          <p:nvPr/>
        </p:nvSpPr>
        <p:spPr>
          <a:xfrm>
            <a:off x="6096000" y="42100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12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42E"/>
                </a:solidFill>
                <a:latin typeface="Arial"/>
                <a:ea typeface="Arial"/>
                <a:cs typeface="Arial"/>
              </a:rPr>
              <a:t>Periodo, segmento y variable donde comienza la desviación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1060544-CC03-4BB9-BD32-C864AED53855}"/>
              </a:ext>
            </a:extLst>
          </p:cNvPr>
          <p:cNvSpPr>
            <a:spLocks noGrp="1"/>
          </p:cNvSpPr>
          <p:nvPr/>
        </p:nvSpPr>
        <p:spPr>
          <a:xfrm>
            <a:off x="1000125" y="5238750"/>
            <a:ext cx="10096500" cy="66675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C27AC285-C33E-47A9-A6BB-CB9138F58AD3}"/>
              </a:ext>
            </a:extLst>
          </p:cNvPr>
          <p:cNvSpPr>
            <a:spLocks noGrp="1"/>
          </p:cNvSpPr>
          <p:nvPr/>
        </p:nvSpPr>
        <p:spPr>
          <a:xfrm>
            <a:off x="1381125" y="5381625"/>
            <a:ext cx="933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19"/>
          </a:bodyPr>
          <a:lstStyle/>
          <a:p>
            <a:pPr algn="ctr"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señal confirma un cambio en las predicciones. Las etiquetas deben confirmar si cambió el fraude real o el desempeño.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318A294A-3463-4A30-BB62-CD4A92649A54}"/>
              </a:ext>
            </a:extLst>
          </p:cNvPr>
          <p:cNvSpPr>
            <a:spLocks noGrp="1"/>
          </p:cNvSpPr>
          <p:nvPr/>
        </p:nvSpPr>
        <p:spPr>
          <a:xfrm>
            <a:off x="1809750" y="6115050"/>
            <a:ext cx="8572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ctr">
              <a:buNone/>
              <a:defRPr sz="90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D6B75"/>
                </a:solidFill>
                <a:latin typeface="Arial"/>
                <a:ea typeface="Arial"/>
                <a:cs typeface="Arial"/>
              </a:rPr>
              <a:t>Evidencia completa: 05_monitoreo_operacional_drift 3..html</a:t>
            </a:r>
          </a:p>
        </p:txBody>
      </p:sp>
    </p:spTree>
    <p:extLst>
      <p:ext uri="{BB962C8B-B14F-4D97-AF65-F5344CB8AC3E}">
        <p14:creationId xmlns:p14="http://schemas.microsoft.com/office/powerpoint/2010/main" val="1247560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4C36632E-830C-4880-8CD2-5793666C1F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04D40A5-211D-4377-BA08-654CDEC8DBA5}"/>
              </a:ext>
            </a:extLst>
          </p:cNvPr>
          <p:cNvSpPr>
            <a:spLocks noGrp="1"/>
          </p:cNvSpPr>
          <p:nvPr/>
        </p:nvSpPr>
        <p:spPr>
          <a:xfrm>
            <a:off x="495300" y="2571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>
              <a:buNone/>
              <a:defRPr sz="82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Ejercicio 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0597FF9-A2BA-4152-9213-A946E5EA3A92}"/>
              </a:ext>
            </a:extLst>
          </p:cNvPr>
          <p:cNvSpPr>
            <a:spLocks noGrp="1"/>
          </p:cNvSpPr>
          <p:nvPr/>
        </p:nvSpPr>
        <p:spPr>
          <a:xfrm>
            <a:off x="11239500" y="247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900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E19DCF4-C12E-4996-863A-D206209895F5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550" b="1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E"/>
                </a:solidFill>
                <a:latin typeface="Arial"/>
                <a:ea typeface="Arial"/>
                <a:cs typeface="Arial"/>
              </a:rPr>
              <a:t>Métricas y decisión de reentrenamiento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D0658FC-DCAE-46E9-9CAC-D9972D04DD83}"/>
              </a:ext>
            </a:extLst>
          </p:cNvPr>
          <p:cNvSpPr>
            <a:spLocks noGrp="1"/>
          </p:cNvSpPr>
          <p:nvPr/>
        </p:nvSpPr>
        <p:spPr>
          <a:xfrm>
            <a:off x="514350" y="11144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B75"/>
                </a:solidFill>
                <a:latin typeface="Arial"/>
                <a:ea typeface="Arial"/>
                <a:cs typeface="Arial"/>
              </a:rPr>
              <a:t>El monitoreo combina salud técnica, drift, desempeño y efecto operativo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8940D47-1B80-4125-8977-02C6EF43497C}"/>
              </a:ext>
            </a:extLst>
          </p:cNvPr>
          <p:cNvSpPr>
            <a:spLocks noGrp="1"/>
          </p:cNvSpPr>
          <p:nvPr/>
        </p:nvSpPr>
        <p:spPr>
          <a:xfrm>
            <a:off x="495300" y="652462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>
              <a:buNone/>
              <a:defRPr sz="6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D6B75"/>
                </a:solidFill>
                <a:latin typeface="Arial"/>
                <a:ea typeface="Arial"/>
                <a:cs typeface="Arial"/>
              </a:rPr>
              <a:t>Prueba complementaria de Machine Learning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E783B5A-4AB2-4B49-9090-2FC3DDA50E12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6286500" cy="857250"/>
          </a:xfrm>
          <a:prstGeom prst="rect">
            <a:avLst/>
          </a:prstGeom>
          <a:solidFill>
            <a:srgbClr val="E8EEF4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02003B9-7AE7-4F5A-AA1B-227D96D9B1AB}"/>
              </a:ext>
            </a:extLst>
          </p:cNvPr>
          <p:cNvSpPr>
            <a:spLocks noGrp="1"/>
          </p:cNvSpPr>
          <p:nvPr/>
        </p:nvSpPr>
        <p:spPr>
          <a:xfrm>
            <a:off x="895350" y="18669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72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EC57FA4-ACDC-465A-9D2F-95C84EA04D2D}"/>
              </a:ext>
            </a:extLst>
          </p:cNvPr>
          <p:cNvSpPr>
            <a:spLocks noGrp="1"/>
          </p:cNvSpPr>
          <p:nvPr/>
        </p:nvSpPr>
        <p:spPr>
          <a:xfrm>
            <a:off x="1504950" y="1809750"/>
            <a:ext cx="2428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/>
          </a:bodyPr>
          <a:lstStyle/>
          <a:p>
            <a:pPr>
              <a:buNone/>
              <a:defRPr sz="142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Operación y calidad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ED64D2C-2CD9-431B-A7F5-BCBAC5AC298B}"/>
              </a:ext>
            </a:extLst>
          </p:cNvPr>
          <p:cNvSpPr>
            <a:spLocks noGrp="1"/>
          </p:cNvSpPr>
          <p:nvPr/>
        </p:nvSpPr>
        <p:spPr>
          <a:xfrm>
            <a:off x="1504950" y="2105025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Estado del job, volumen, latencia, errores, esquema, nulos y duplicados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8A5DCC3-1ED8-4A55-BB94-4068DF21AE46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6286500" cy="857250"/>
          </a:xfrm>
          <a:prstGeom prst="rect">
            <a:avLst/>
          </a:prstGeom>
          <a:solidFill>
            <a:srgbClr val="E4F1F0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7620919-E5B7-42A2-A420-CC81736C1B45}"/>
              </a:ext>
            </a:extLst>
          </p:cNvPr>
          <p:cNvSpPr>
            <a:spLocks noGrp="1"/>
          </p:cNvSpPr>
          <p:nvPr/>
        </p:nvSpPr>
        <p:spPr>
          <a:xfrm>
            <a:off x="895350" y="29337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72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F9C2293-E159-45D9-9475-9826E869B067}"/>
              </a:ext>
            </a:extLst>
          </p:cNvPr>
          <p:cNvSpPr>
            <a:spLocks noGrp="1"/>
          </p:cNvSpPr>
          <p:nvPr/>
        </p:nvSpPr>
        <p:spPr>
          <a:xfrm>
            <a:off x="1504950" y="2876550"/>
            <a:ext cx="2428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/>
          </a:bodyPr>
          <a:lstStyle/>
          <a:p>
            <a:pPr>
              <a:buNone/>
              <a:defRPr sz="142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Datos y predicciones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F945075-B858-415D-94D2-777149C9642D}"/>
              </a:ext>
            </a:extLst>
          </p:cNvPr>
          <p:cNvSpPr>
            <a:spLocks noGrp="1"/>
          </p:cNvSpPr>
          <p:nvPr/>
        </p:nvSpPr>
        <p:spPr>
          <a:xfrm>
            <a:off x="1504950" y="3171825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PSI, KS, estabilidad categórica, distribución del score y tasa marcada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2E92580-C0F8-4D91-9A0B-46E412FE9033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6286500" cy="857250"/>
          </a:xfrm>
          <a:prstGeom prst="rect">
            <a:avLst/>
          </a:prstGeom>
          <a:solidFill>
            <a:srgbClr val="F7EEDC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007DE1E-5E7F-4B78-BA16-75A1283F3CC4}"/>
              </a:ext>
            </a:extLst>
          </p:cNvPr>
          <p:cNvSpPr>
            <a:spLocks noGrp="1"/>
          </p:cNvSpPr>
          <p:nvPr/>
        </p:nvSpPr>
        <p:spPr>
          <a:xfrm>
            <a:off x="895350" y="40005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725" b="1">
                <a:solidFill>
                  <a:srgbClr val="A76A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76A1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187D94C-C0BA-4EDD-997D-E43C720523B0}"/>
              </a:ext>
            </a:extLst>
          </p:cNvPr>
          <p:cNvSpPr>
            <a:spLocks noGrp="1"/>
          </p:cNvSpPr>
          <p:nvPr/>
        </p:nvSpPr>
        <p:spPr>
          <a:xfrm>
            <a:off x="1504950" y="3943350"/>
            <a:ext cx="2428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/>
          </a:bodyPr>
          <a:lstStyle/>
          <a:p>
            <a:pPr>
              <a:buNone/>
              <a:defRPr sz="142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Desempeño y negocio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F025DC0-9F15-4B13-99B6-EF98FA9A01DC}"/>
              </a:ext>
            </a:extLst>
          </p:cNvPr>
          <p:cNvSpPr>
            <a:spLocks noGrp="1"/>
          </p:cNvSpPr>
          <p:nvPr/>
        </p:nvSpPr>
        <p:spPr>
          <a:xfrm>
            <a:off x="1504950" y="4238625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AUPR, recall, precision, lift, calibración y carga de investigación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410698C-DD81-491A-A3C1-F13E45E1F692}"/>
              </a:ext>
            </a:extLst>
          </p:cNvPr>
          <p:cNvSpPr>
            <a:spLocks noGrp="1"/>
          </p:cNvSpPr>
          <p:nvPr/>
        </p:nvSpPr>
        <p:spPr>
          <a:xfrm>
            <a:off x="7381875" y="1695450"/>
            <a:ext cx="4000500" cy="2990850"/>
          </a:xfrm>
          <a:prstGeom prst="rect">
            <a:avLst/>
          </a:prstGeom>
          <a:solidFill>
            <a:srgbClr val="FFFFFF"/>
          </a:solidFill>
          <a:ln w="19050">
            <a:solidFill>
              <a:srgbClr val="0B6E75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F3BB0DF-5EEC-4774-944B-7FFC91472831}"/>
              </a:ext>
            </a:extLst>
          </p:cNvPr>
          <p:cNvSpPr>
            <a:spLocks noGrp="1"/>
          </p:cNvSpPr>
          <p:nvPr/>
        </p:nvSpPr>
        <p:spPr>
          <a:xfrm>
            <a:off x="7696200" y="1924050"/>
            <a:ext cx="3333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>
              <a:buNone/>
              <a:defRPr sz="165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Cuándo reentrenaría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2F10A9C-7937-4F44-BCD4-39D5D391CED4}"/>
              </a:ext>
            </a:extLst>
          </p:cNvPr>
          <p:cNvSpPr>
            <a:spLocks noGrp="1"/>
          </p:cNvSpPr>
          <p:nvPr/>
        </p:nvSpPr>
        <p:spPr>
          <a:xfrm>
            <a:off x="7696200" y="2476500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Drift persistente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9D24061-FD20-4032-84E7-66705FD9BFB6}"/>
              </a:ext>
            </a:extLst>
          </p:cNvPr>
          <p:cNvSpPr>
            <a:spLocks noGrp="1"/>
          </p:cNvSpPr>
          <p:nvPr/>
        </p:nvSpPr>
        <p:spPr>
          <a:xfrm>
            <a:off x="7696200" y="2743200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28"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Se mantiene en varias ventanas o segmentos relevantes.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AB139E8-B5CC-455A-A139-E975ED23985F}"/>
              </a:ext>
            </a:extLst>
          </p:cNvPr>
          <p:cNvSpPr>
            <a:spLocks noGrp="1"/>
          </p:cNvSpPr>
          <p:nvPr/>
        </p:nvSpPr>
        <p:spPr>
          <a:xfrm>
            <a:off x="7696200" y="3286125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Etiquetas maduras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A6053BC-2651-4355-B67E-8AAFF2734307}"/>
              </a:ext>
            </a:extLst>
          </p:cNvPr>
          <p:cNvSpPr>
            <a:spLocks noGrp="1"/>
          </p:cNvSpPr>
          <p:nvPr/>
        </p:nvSpPr>
        <p:spPr>
          <a:xfrm>
            <a:off x="7696200" y="3552825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28"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Confirman deterioro material de desempeño o calibración.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0E517EA-D666-4F92-9285-9C0E8F9FF301}"/>
              </a:ext>
            </a:extLst>
          </p:cNvPr>
          <p:cNvSpPr>
            <a:spLocks noGrp="1"/>
          </p:cNvSpPr>
          <p:nvPr/>
        </p:nvSpPr>
        <p:spPr>
          <a:xfrm>
            <a:off x="7696200" y="4019550"/>
            <a:ext cx="31432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Cambio del dominio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9C71AC4-79CF-46F8-A7BD-B41D3D0C072F}"/>
              </a:ext>
            </a:extLst>
          </p:cNvPr>
          <p:cNvSpPr>
            <a:spLocks noGrp="1"/>
          </p:cNvSpPr>
          <p:nvPr/>
        </p:nvSpPr>
        <p:spPr>
          <a:xfrm>
            <a:off x="7696200" y="4286250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28"/>
          </a:bodyPr>
          <a:lstStyle/>
          <a:p>
            <a:pPr>
              <a:buNone/>
              <a:defRPr sz="10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7242E"/>
                </a:solidFill>
                <a:latin typeface="Arial"/>
                <a:ea typeface="Arial"/>
                <a:cs typeface="Arial"/>
              </a:rPr>
              <a:t>Aparece una población que el entrenamiento original no cubría.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661048C-1FB8-4B39-A46A-284F0377B92D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696575" cy="78105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800EF27B-003C-4861-AF16-5DC45201A962}"/>
              </a:ext>
            </a:extLst>
          </p:cNvPr>
          <p:cNvSpPr>
            <a:spLocks noGrp="1"/>
          </p:cNvSpPr>
          <p:nvPr/>
        </p:nvSpPr>
        <p:spPr>
          <a:xfrm>
            <a:off x="1000125" y="517207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2"/>
          </a:bodyPr>
          <a:lstStyle/>
          <a:p>
            <a:pPr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 de la prueba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DAAF340-6A0C-4A82-9826-CF4405C69321}"/>
              </a:ext>
            </a:extLst>
          </p:cNvPr>
          <p:cNvSpPr>
            <a:spLocks noGrp="1"/>
          </p:cNvSpPr>
          <p:nvPr/>
        </p:nvSpPr>
        <p:spPr>
          <a:xfrm>
            <a:off x="3333750" y="5133975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009"/>
          </a:bodyPr>
          <a:lstStyle/>
          <a:p>
            <a:pPr algn="ctr"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Canal y score presentan drift crítico. Sin etiquetas maduras, la respuesta correcta es investigar y observar antes de reentrenar.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B436266-B878-4435-A9F3-850B98B9466F}"/>
              </a:ext>
            </a:extLst>
          </p:cNvPr>
          <p:cNvSpPr>
            <a:spLocks noGrp="1"/>
          </p:cNvSpPr>
          <p:nvPr/>
        </p:nvSpPr>
        <p:spPr>
          <a:xfrm>
            <a:off x="1809750" y="6115050"/>
            <a:ext cx="8572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ctr">
              <a:buNone/>
              <a:defRPr sz="90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D6B75"/>
                </a:solidFill>
                <a:latin typeface="Arial"/>
                <a:ea typeface="Arial"/>
                <a:cs typeface="Arial"/>
              </a:rPr>
              <a:t>Evidencia completa: 05_monitoreo_operacional_drift 3..html</a:t>
            </a:r>
          </a:p>
        </p:txBody>
      </p:sp>
    </p:spTree>
    <p:extLst>
      <p:ext uri="{BB962C8B-B14F-4D97-AF65-F5344CB8AC3E}">
        <p14:creationId xmlns:p14="http://schemas.microsoft.com/office/powerpoint/2010/main" val="357948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D38B23AE-7A4E-4C39-B9EB-098AE16979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0815320-BB3C-4300-923E-9218E38EF8F4}"/>
              </a:ext>
            </a:extLst>
          </p:cNvPr>
          <p:cNvSpPr>
            <a:spLocks noGrp="1"/>
          </p:cNvSpPr>
          <p:nvPr/>
        </p:nvSpPr>
        <p:spPr>
          <a:xfrm>
            <a:off x="495300" y="2571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>
              <a:buNone/>
              <a:defRPr sz="82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Ejercicio 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71726A0-F45F-490F-B4E3-B50A4FF205D9}"/>
              </a:ext>
            </a:extLst>
          </p:cNvPr>
          <p:cNvSpPr>
            <a:spLocks noGrp="1"/>
          </p:cNvSpPr>
          <p:nvPr/>
        </p:nvSpPr>
        <p:spPr>
          <a:xfrm>
            <a:off x="11239500" y="247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900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0ED3E76-26CA-4C5C-9C15-565A7C5DD9A1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550" b="1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E"/>
                </a:solidFill>
                <a:latin typeface="Arial"/>
                <a:ea typeface="Arial"/>
                <a:cs typeface="Arial"/>
              </a:rPr>
              <a:t>Batch y API resuelven necesidades distintas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088BF38-7BA3-4B63-AA47-8CB2D84CA430}"/>
              </a:ext>
            </a:extLst>
          </p:cNvPr>
          <p:cNvSpPr>
            <a:spLocks noGrp="1"/>
          </p:cNvSpPr>
          <p:nvPr/>
        </p:nvSpPr>
        <p:spPr>
          <a:xfrm>
            <a:off x="514350" y="11144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B75"/>
                </a:solidFill>
                <a:latin typeface="Arial"/>
                <a:ea typeface="Arial"/>
                <a:cs typeface="Arial"/>
              </a:rPr>
              <a:t>La elección depende del momento en que el negocio necesita la decisión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A8DCD3-A879-49DA-9D95-DF9BCE91CB5B}"/>
              </a:ext>
            </a:extLst>
          </p:cNvPr>
          <p:cNvSpPr>
            <a:spLocks noGrp="1"/>
          </p:cNvSpPr>
          <p:nvPr/>
        </p:nvSpPr>
        <p:spPr>
          <a:xfrm>
            <a:off x="495300" y="652462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>
              <a:buNone/>
              <a:defRPr sz="6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D6B75"/>
                </a:solidFill>
                <a:latin typeface="Arial"/>
                <a:ea typeface="Arial"/>
                <a:cs typeface="Arial"/>
              </a:rPr>
              <a:t>Prueba complementaria de Machine Learning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1F61760-2082-4535-8C63-D017E2E01942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2095500" cy="533400"/>
          </a:xfrm>
          <a:prstGeom prst="rect">
            <a:avLst/>
          </a:prstGeom>
          <a:solidFill>
            <a:srgbClr val="173B57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30D7AD5-1759-4D1F-A3FD-09403CB28939}"/>
              </a:ext>
            </a:extLst>
          </p:cNvPr>
          <p:cNvSpPr>
            <a:spLocks noGrp="1"/>
          </p:cNvSpPr>
          <p:nvPr/>
        </p:nvSpPr>
        <p:spPr>
          <a:xfrm>
            <a:off x="771525" y="1724025"/>
            <a:ext cx="1924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Criterio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D3D26F6-C2D1-4F06-9C5E-59DAEBCFD0F5}"/>
              </a:ext>
            </a:extLst>
          </p:cNvPr>
          <p:cNvSpPr>
            <a:spLocks noGrp="1"/>
          </p:cNvSpPr>
          <p:nvPr/>
        </p:nvSpPr>
        <p:spPr>
          <a:xfrm>
            <a:off x="2781300" y="1666875"/>
            <a:ext cx="4095750" cy="533400"/>
          </a:xfrm>
          <a:prstGeom prst="rect">
            <a:avLst/>
          </a:prstGeom>
          <a:solidFill>
            <a:srgbClr val="173B57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F7741C8-ED1E-4911-B2F5-83EB02E37366}"/>
              </a:ext>
            </a:extLst>
          </p:cNvPr>
          <p:cNvSpPr>
            <a:spLocks noGrp="1"/>
          </p:cNvSpPr>
          <p:nvPr/>
        </p:nvSpPr>
        <p:spPr>
          <a:xfrm>
            <a:off x="2867025" y="1724025"/>
            <a:ext cx="39243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Batch diario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5FB01C8-B42B-47E7-A830-A974067A2D9C}"/>
              </a:ext>
            </a:extLst>
          </p:cNvPr>
          <p:cNvSpPr>
            <a:spLocks noGrp="1"/>
          </p:cNvSpPr>
          <p:nvPr/>
        </p:nvSpPr>
        <p:spPr>
          <a:xfrm>
            <a:off x="6877050" y="1666875"/>
            <a:ext cx="4095750" cy="533400"/>
          </a:xfrm>
          <a:prstGeom prst="rect">
            <a:avLst/>
          </a:prstGeom>
          <a:solidFill>
            <a:srgbClr val="173B57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EDFE35D-6451-487D-B199-4ABDA08DB497}"/>
              </a:ext>
            </a:extLst>
          </p:cNvPr>
          <p:cNvSpPr>
            <a:spLocks noGrp="1"/>
          </p:cNvSpPr>
          <p:nvPr/>
        </p:nvSpPr>
        <p:spPr>
          <a:xfrm>
            <a:off x="6962775" y="1724025"/>
            <a:ext cx="39243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en línea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AA0F0A1-8504-475C-BA1D-6E918F6488BD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2095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1027961-CBB7-474C-AE93-6E6C34B042D5}"/>
              </a:ext>
            </a:extLst>
          </p:cNvPr>
          <p:cNvSpPr>
            <a:spLocks noGrp="1"/>
          </p:cNvSpPr>
          <p:nvPr/>
        </p:nvSpPr>
        <p:spPr>
          <a:xfrm>
            <a:off x="771525" y="2257425"/>
            <a:ext cx="1924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Caso de uso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23692C2-2C7D-4752-B814-308BFCAEC05B}"/>
              </a:ext>
            </a:extLst>
          </p:cNvPr>
          <p:cNvSpPr>
            <a:spLocks noGrp="1"/>
          </p:cNvSpPr>
          <p:nvPr/>
        </p:nvSpPr>
        <p:spPr>
          <a:xfrm>
            <a:off x="2781300" y="2200275"/>
            <a:ext cx="40957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4E367AA-7F72-4DAB-B63E-6E9068E6340C}"/>
              </a:ext>
            </a:extLst>
          </p:cNvPr>
          <p:cNvSpPr>
            <a:spLocks noGrp="1"/>
          </p:cNvSpPr>
          <p:nvPr/>
        </p:nvSpPr>
        <p:spPr>
          <a:xfrm>
            <a:off x="2867025" y="2257425"/>
            <a:ext cx="39243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Priorización, investigación y reportes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1BBDF4B-F461-4D69-8932-83E420BFDE5D}"/>
              </a:ext>
            </a:extLst>
          </p:cNvPr>
          <p:cNvSpPr>
            <a:spLocks noGrp="1"/>
          </p:cNvSpPr>
          <p:nvPr/>
        </p:nvSpPr>
        <p:spPr>
          <a:xfrm>
            <a:off x="6877050" y="2200275"/>
            <a:ext cx="40957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1CD027C-B7CE-48A7-9E9E-CBF7CCCFEC4F}"/>
              </a:ext>
            </a:extLst>
          </p:cNvPr>
          <p:cNvSpPr>
            <a:spLocks noGrp="1"/>
          </p:cNvSpPr>
          <p:nvPr/>
        </p:nvSpPr>
        <p:spPr>
          <a:xfrm>
            <a:off x="6962775" y="2257425"/>
            <a:ext cx="39243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Decisión dentro de una transacción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DCBB664-A353-4D17-ACAA-B768D5D8E45D}"/>
              </a:ext>
            </a:extLst>
          </p:cNvPr>
          <p:cNvSpPr>
            <a:spLocks noGrp="1"/>
          </p:cNvSpPr>
          <p:nvPr/>
        </p:nvSpPr>
        <p:spPr>
          <a:xfrm>
            <a:off x="685800" y="2733675"/>
            <a:ext cx="2095500" cy="533400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C147EE5-CEDE-41C2-BECF-AB06ED42C171}"/>
              </a:ext>
            </a:extLst>
          </p:cNvPr>
          <p:cNvSpPr>
            <a:spLocks noGrp="1"/>
          </p:cNvSpPr>
          <p:nvPr/>
        </p:nvSpPr>
        <p:spPr>
          <a:xfrm>
            <a:off x="771525" y="2790825"/>
            <a:ext cx="1924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Latencia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F8F8FBB-F7D8-43B0-92FD-A445ED2CE585}"/>
              </a:ext>
            </a:extLst>
          </p:cNvPr>
          <p:cNvSpPr>
            <a:spLocks noGrp="1"/>
          </p:cNvSpPr>
          <p:nvPr/>
        </p:nvSpPr>
        <p:spPr>
          <a:xfrm>
            <a:off x="2781300" y="2733675"/>
            <a:ext cx="4095750" cy="533400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9828B88-FD8E-4B1B-AB14-60FB196A19B6}"/>
              </a:ext>
            </a:extLst>
          </p:cNvPr>
          <p:cNvSpPr>
            <a:spLocks noGrp="1"/>
          </p:cNvSpPr>
          <p:nvPr/>
        </p:nvSpPr>
        <p:spPr>
          <a:xfrm>
            <a:off x="2867025" y="2790825"/>
            <a:ext cx="39243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Minutos u horas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10BAD5E-A56A-49BE-91E7-4211761180CE}"/>
              </a:ext>
            </a:extLst>
          </p:cNvPr>
          <p:cNvSpPr>
            <a:spLocks noGrp="1"/>
          </p:cNvSpPr>
          <p:nvPr/>
        </p:nvSpPr>
        <p:spPr>
          <a:xfrm>
            <a:off x="6877050" y="2733675"/>
            <a:ext cx="4095750" cy="533400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C3E3A6A-B7D4-49D6-AF44-B0BE20EF488B}"/>
              </a:ext>
            </a:extLst>
          </p:cNvPr>
          <p:cNvSpPr>
            <a:spLocks noGrp="1"/>
          </p:cNvSpPr>
          <p:nvPr/>
        </p:nvSpPr>
        <p:spPr>
          <a:xfrm>
            <a:off x="6962775" y="2790825"/>
            <a:ext cx="39243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Milisegundos o segundos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ACDA433-F1F7-4AFA-AB72-00732484C5FA}"/>
              </a:ext>
            </a:extLst>
          </p:cNvPr>
          <p:cNvSpPr>
            <a:spLocks noGrp="1"/>
          </p:cNvSpPr>
          <p:nvPr/>
        </p:nvSpPr>
        <p:spPr>
          <a:xfrm>
            <a:off x="685800" y="3267075"/>
            <a:ext cx="2095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BFB41BA-C078-48A2-970B-3E03029D7AE6}"/>
              </a:ext>
            </a:extLst>
          </p:cNvPr>
          <p:cNvSpPr>
            <a:spLocks noGrp="1"/>
          </p:cNvSpPr>
          <p:nvPr/>
        </p:nvSpPr>
        <p:spPr>
          <a:xfrm>
            <a:off x="771525" y="3324225"/>
            <a:ext cx="1924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Costo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EA475E7-3745-46E2-8A63-3C4313250B3D}"/>
              </a:ext>
            </a:extLst>
          </p:cNvPr>
          <p:cNvSpPr>
            <a:spLocks noGrp="1"/>
          </p:cNvSpPr>
          <p:nvPr/>
        </p:nvSpPr>
        <p:spPr>
          <a:xfrm>
            <a:off x="2781300" y="3267075"/>
            <a:ext cx="40957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9BDAAEF-A3AA-4964-9973-531A59E4FBE1}"/>
              </a:ext>
            </a:extLst>
          </p:cNvPr>
          <p:cNvSpPr>
            <a:spLocks noGrp="1"/>
          </p:cNvSpPr>
          <p:nvPr/>
        </p:nvSpPr>
        <p:spPr>
          <a:xfrm>
            <a:off x="2867025" y="3324225"/>
            <a:ext cx="39243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Compute durante una ventana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0FD2EFB-53DA-4370-A69F-9F74270CDB89}"/>
              </a:ext>
            </a:extLst>
          </p:cNvPr>
          <p:cNvSpPr>
            <a:spLocks noGrp="1"/>
          </p:cNvSpPr>
          <p:nvPr/>
        </p:nvSpPr>
        <p:spPr>
          <a:xfrm>
            <a:off x="6877050" y="3267075"/>
            <a:ext cx="40957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9CBB592-9D61-4AD1-B0C8-2E39F2D00850}"/>
              </a:ext>
            </a:extLst>
          </p:cNvPr>
          <p:cNvSpPr>
            <a:spLocks noGrp="1"/>
          </p:cNvSpPr>
          <p:nvPr/>
        </p:nvSpPr>
        <p:spPr>
          <a:xfrm>
            <a:off x="6962775" y="3324225"/>
            <a:ext cx="39243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Capacidad disponible de forma continua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CD91985-2C18-4F4D-8B76-0E91CDC5F787}"/>
              </a:ext>
            </a:extLst>
          </p:cNvPr>
          <p:cNvSpPr>
            <a:spLocks noGrp="1"/>
          </p:cNvSpPr>
          <p:nvPr/>
        </p:nvSpPr>
        <p:spPr>
          <a:xfrm>
            <a:off x="685800" y="3800475"/>
            <a:ext cx="2095500" cy="533400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1E38E58-0C13-411C-83EB-E56AE9C0F965}"/>
              </a:ext>
            </a:extLst>
          </p:cNvPr>
          <p:cNvSpPr>
            <a:spLocks noGrp="1"/>
          </p:cNvSpPr>
          <p:nvPr/>
        </p:nvSpPr>
        <p:spPr>
          <a:xfrm>
            <a:off x="771525" y="3857625"/>
            <a:ext cx="1924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Operación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7A68673-F1AA-4A0B-A4B6-14B8C2ABB4ED}"/>
              </a:ext>
            </a:extLst>
          </p:cNvPr>
          <p:cNvSpPr>
            <a:spLocks noGrp="1"/>
          </p:cNvSpPr>
          <p:nvPr/>
        </p:nvSpPr>
        <p:spPr>
          <a:xfrm>
            <a:off x="2781300" y="3800475"/>
            <a:ext cx="4095750" cy="533400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752907C-07D0-4B58-9C42-704FFCB6C170}"/>
              </a:ext>
            </a:extLst>
          </p:cNvPr>
          <p:cNvSpPr>
            <a:spLocks noGrp="1"/>
          </p:cNvSpPr>
          <p:nvPr/>
        </p:nvSpPr>
        <p:spPr>
          <a:xfrm>
            <a:off x="2867025" y="3857625"/>
            <a:ext cx="39243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Reproceso e idempotencia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CDCEE394-271A-4CA5-B7B3-AC52FFBEF0C2}"/>
              </a:ext>
            </a:extLst>
          </p:cNvPr>
          <p:cNvSpPr>
            <a:spLocks noGrp="1"/>
          </p:cNvSpPr>
          <p:nvPr/>
        </p:nvSpPr>
        <p:spPr>
          <a:xfrm>
            <a:off x="6877050" y="3800475"/>
            <a:ext cx="4095750" cy="533400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7489F22D-F398-4E76-9EE0-DD800E7A8B5A}"/>
              </a:ext>
            </a:extLst>
          </p:cNvPr>
          <p:cNvSpPr>
            <a:spLocks noGrp="1"/>
          </p:cNvSpPr>
          <p:nvPr/>
        </p:nvSpPr>
        <p:spPr>
          <a:xfrm>
            <a:off x="6962775" y="3857625"/>
            <a:ext cx="39243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Alta disponibilidad, timeout y protección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D24A280-5D22-4C80-91EC-2D47CC04E442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2095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B29A1771-2896-46EB-A3D4-0CD5AA3B7CEB}"/>
              </a:ext>
            </a:extLst>
          </p:cNvPr>
          <p:cNvSpPr>
            <a:spLocks noGrp="1"/>
          </p:cNvSpPr>
          <p:nvPr/>
        </p:nvSpPr>
        <p:spPr>
          <a:xfrm>
            <a:off x="771525" y="4391025"/>
            <a:ext cx="19240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Escalabilidad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AFFBE35-0F69-4880-BD1D-FB726B86F419}"/>
              </a:ext>
            </a:extLst>
          </p:cNvPr>
          <p:cNvSpPr>
            <a:spLocks noGrp="1"/>
          </p:cNvSpPr>
          <p:nvPr/>
        </p:nvSpPr>
        <p:spPr>
          <a:xfrm>
            <a:off x="2781300" y="4333875"/>
            <a:ext cx="40957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C5210C50-6723-49F0-854A-E7EDDC327AB6}"/>
              </a:ext>
            </a:extLst>
          </p:cNvPr>
          <p:cNvSpPr>
            <a:spLocks noGrp="1"/>
          </p:cNvSpPr>
          <p:nvPr/>
        </p:nvSpPr>
        <p:spPr>
          <a:xfrm>
            <a:off x="2867025" y="4391025"/>
            <a:ext cx="39243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Particionamiento y paralelismo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221F1CD9-9F57-4401-8616-46C7A97FBD09}"/>
              </a:ext>
            </a:extLst>
          </p:cNvPr>
          <p:cNvSpPr>
            <a:spLocks noGrp="1"/>
          </p:cNvSpPr>
          <p:nvPr/>
        </p:nvSpPr>
        <p:spPr>
          <a:xfrm>
            <a:off x="6877050" y="4333875"/>
            <a:ext cx="40957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86601D87-2B62-4FDF-8B26-34416BD78B00}"/>
              </a:ext>
            </a:extLst>
          </p:cNvPr>
          <p:cNvSpPr>
            <a:spLocks noGrp="1"/>
          </p:cNvSpPr>
          <p:nvPr/>
        </p:nvSpPr>
        <p:spPr>
          <a:xfrm>
            <a:off x="6962775" y="4391025"/>
            <a:ext cx="39243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050" b="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242E"/>
                </a:solidFill>
                <a:latin typeface="Arial"/>
                <a:ea typeface="Arial"/>
                <a:cs typeface="Arial"/>
              </a:rPr>
              <a:t>Autoscaling, caché y control de tráfico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6AE4B6AB-436B-4ABC-A971-6C5C022C76C9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10287000" cy="8763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3C24AE0E-0B46-4608-BCB5-BE27B2D27107}"/>
              </a:ext>
            </a:extLst>
          </p:cNvPr>
          <p:cNvSpPr>
            <a:spLocks noGrp="1"/>
          </p:cNvSpPr>
          <p:nvPr/>
        </p:nvSpPr>
        <p:spPr>
          <a:xfrm>
            <a:off x="1028700" y="53530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702"/>
          </a:bodyPr>
          <a:lstStyle/>
          <a:p>
            <a:pPr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Recomendación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002F1B34-0150-40A4-A9E1-8352AE211DB1}"/>
              </a:ext>
            </a:extLst>
          </p:cNvPr>
          <p:cNvSpPr>
            <a:spLocks noGrp="1"/>
          </p:cNvSpPr>
          <p:nvPr/>
        </p:nvSpPr>
        <p:spPr>
          <a:xfrm>
            <a:off x="3238500" y="531495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29"/>
          </a:bodyPr>
          <a:lstStyle/>
          <a:p>
            <a:pPr algn="ctr">
              <a:buNone/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Arquitectura híbrida: batch como base y API para los flujos cuya decisión no puede esperar.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1E2E473F-2EC8-49B9-9589-AD0CB1F504E8}"/>
              </a:ext>
            </a:extLst>
          </p:cNvPr>
          <p:cNvSpPr>
            <a:spLocks noGrp="1"/>
          </p:cNvSpPr>
          <p:nvPr/>
        </p:nvSpPr>
        <p:spPr>
          <a:xfrm>
            <a:off x="3429000" y="5676900"/>
            <a:ext cx="6858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ctr">
              <a:buNone/>
              <a:defRPr sz="975">
                <a:solidFill>
                  <a:srgbClr val="BFD7E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BFD7E4"/>
                </a:solidFill>
                <a:latin typeface="Arial"/>
                <a:ea typeface="Arial"/>
                <a:cs typeface="Arial"/>
              </a:rPr>
              <a:t>Ambos canales comparten modelo, variables, contrato de salida, seguridad y monitoreo.</a:t>
            </a:r>
          </a:p>
        </p:txBody>
      </p:sp>
    </p:spTree>
    <p:extLst>
      <p:ext uri="{BB962C8B-B14F-4D97-AF65-F5344CB8AC3E}">
        <p14:creationId xmlns:p14="http://schemas.microsoft.com/office/powerpoint/2010/main" val="907256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CFCC6EC4-F517-4CE7-8D71-7EEAC35D4C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5CB58B8-4424-4833-A815-B3D87188D45E}"/>
              </a:ext>
            </a:extLst>
          </p:cNvPr>
          <p:cNvSpPr>
            <a:spLocks noGrp="1"/>
          </p:cNvSpPr>
          <p:nvPr/>
        </p:nvSpPr>
        <p:spPr>
          <a:xfrm>
            <a:off x="495300" y="2571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>
              <a:buNone/>
              <a:defRPr sz="82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Ejercicio 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1DB9EA9-485D-4D5B-A79D-91E027D55F69}"/>
              </a:ext>
            </a:extLst>
          </p:cNvPr>
          <p:cNvSpPr>
            <a:spLocks noGrp="1"/>
          </p:cNvSpPr>
          <p:nvPr/>
        </p:nvSpPr>
        <p:spPr>
          <a:xfrm>
            <a:off x="11239500" y="247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900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BDCD438-9F78-4330-9F4E-6428D1C1EAEB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550" b="1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E"/>
                </a:solidFill>
                <a:latin typeface="Arial"/>
                <a:ea typeface="Arial"/>
                <a:cs typeface="Arial"/>
              </a:rPr>
              <a:t>Un contrato común desacopla el scoring de sus consumidores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D453344-36A6-4351-A0BE-C02C871A53A0}"/>
              </a:ext>
            </a:extLst>
          </p:cNvPr>
          <p:cNvSpPr>
            <a:spLocks noGrp="1"/>
          </p:cNvSpPr>
          <p:nvPr/>
        </p:nvSpPr>
        <p:spPr>
          <a:xfrm>
            <a:off x="514350" y="11144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B75"/>
                </a:solidFill>
                <a:latin typeface="Arial"/>
                <a:ea typeface="Arial"/>
                <a:cs typeface="Arial"/>
              </a:rPr>
              <a:t>Batch y API comparten entradas, preparación, modelo y semántica de respuesta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3BEE52-2AE8-4DBA-B541-ECFFA56E8655}"/>
              </a:ext>
            </a:extLst>
          </p:cNvPr>
          <p:cNvSpPr>
            <a:spLocks noGrp="1"/>
          </p:cNvSpPr>
          <p:nvPr/>
        </p:nvSpPr>
        <p:spPr>
          <a:xfrm>
            <a:off x="495300" y="652462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>
              <a:buNone/>
              <a:defRPr sz="6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D6B75"/>
                </a:solidFill>
                <a:latin typeface="Arial"/>
                <a:ea typeface="Arial"/>
                <a:cs typeface="Arial"/>
              </a:rPr>
              <a:t>Prueba complementaria de Machine Learning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4780F9F-7904-472F-A7F0-A50D898357FD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52"/>
          </a:bodyPr>
          <a:lstStyle/>
          <a:p>
            <a:pPr>
              <a:buNone/>
              <a:defRPr sz="15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Solicitud canónica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71F9B24-E9F9-4B9C-8B15-D1FF6D41ECB4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2714625" cy="2428875"/>
          </a:xfrm>
          <a:prstGeom prst="rect">
            <a:avLst/>
          </a:prstGeom>
          <a:solidFill>
            <a:srgbClr val="E8EEF4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04A5180-0A98-4065-8B27-BA2C023C9811}"/>
              </a:ext>
            </a:extLst>
          </p:cNvPr>
          <p:cNvSpPr>
            <a:spLocks noGrp="1"/>
          </p:cNvSpPr>
          <p:nvPr/>
        </p:nvSpPr>
        <p:spPr>
          <a:xfrm>
            <a:off x="952500" y="2324100"/>
            <a:ext cx="2143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42E"/>
                </a:solidFill>
                <a:latin typeface="Arial"/>
                <a:ea typeface="Arial"/>
                <a:cs typeface="Arial"/>
              </a:rPr>
              <a:t>id_reclamacion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A814C57-D9EE-443C-A9DA-675E2DD8E0CA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2143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42E"/>
                </a:solidFill>
                <a:latin typeface="Arial"/>
                <a:ea typeface="Arial"/>
                <a:cs typeface="Arial"/>
              </a:rPr>
              <a:t>fecha_evento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43EF547-49D0-4237-BEEA-D94C247ADB9A}"/>
              </a:ext>
            </a:extLst>
          </p:cNvPr>
          <p:cNvSpPr>
            <a:spLocks noGrp="1"/>
          </p:cNvSpPr>
          <p:nvPr/>
        </p:nvSpPr>
        <p:spPr>
          <a:xfrm>
            <a:off x="952500" y="3086100"/>
            <a:ext cx="2143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42E"/>
                </a:solidFill>
                <a:latin typeface="Arial"/>
                <a:ea typeface="Arial"/>
                <a:cs typeface="Arial"/>
              </a:rPr>
              <a:t>payload_reclamacion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76695B0-A1EA-4D6C-9B3C-24D5E07D4770}"/>
              </a:ext>
            </a:extLst>
          </p:cNvPr>
          <p:cNvSpPr>
            <a:spLocks noGrp="1"/>
          </p:cNvSpPr>
          <p:nvPr/>
        </p:nvSpPr>
        <p:spPr>
          <a:xfrm>
            <a:off x="952500" y="3467100"/>
            <a:ext cx="2143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42E"/>
                </a:solidFill>
                <a:latin typeface="Arial"/>
                <a:ea typeface="Arial"/>
                <a:cs typeface="Arial"/>
              </a:rPr>
              <a:t>contract_version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C599394-CC0C-4372-A9FA-0A70366823DA}"/>
              </a:ext>
            </a:extLst>
          </p:cNvPr>
          <p:cNvSpPr>
            <a:spLocks noGrp="1"/>
          </p:cNvSpPr>
          <p:nvPr/>
        </p:nvSpPr>
        <p:spPr>
          <a:xfrm>
            <a:off x="952500" y="3848100"/>
            <a:ext cx="2143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42E"/>
                </a:solidFill>
                <a:latin typeface="Arial"/>
                <a:ea typeface="Arial"/>
                <a:cs typeface="Arial"/>
              </a:rPr>
              <a:t>trace_id</a:t>
            </a: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E6A777B3-FA6B-45EA-8BD0-1DD41D1D514C}"/>
              </a:ext>
            </a:extLst>
          </p:cNvPr>
          <p:cNvSpPr>
            <a:spLocks noGrp="1"/>
          </p:cNvSpPr>
          <p:nvPr/>
        </p:nvSpPr>
        <p:spPr>
          <a:xfrm>
            <a:off x="3571875" y="3143250"/>
            <a:ext cx="514350" cy="32385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987D953-64DF-489F-92F8-7B23D6200659}"/>
              </a:ext>
            </a:extLst>
          </p:cNvPr>
          <p:cNvSpPr>
            <a:spLocks noGrp="1"/>
          </p:cNvSpPr>
          <p:nvPr/>
        </p:nvSpPr>
        <p:spPr>
          <a:xfrm>
            <a:off x="4286250" y="1857375"/>
            <a:ext cx="3619500" cy="3000375"/>
          </a:xfrm>
          <a:prstGeom prst="rect">
            <a:avLst/>
          </a:prstGeom>
          <a:solidFill>
            <a:srgbClr val="E4F1F0"/>
          </a:solidFill>
          <a:ln w="19050">
            <a:solidFill>
              <a:srgbClr val="0B6E75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FECDC05-F18E-4420-A91A-00A978C7EB13}"/>
              </a:ext>
            </a:extLst>
          </p:cNvPr>
          <p:cNvSpPr>
            <a:spLocks noGrp="1"/>
          </p:cNvSpPr>
          <p:nvPr/>
        </p:nvSpPr>
        <p:spPr>
          <a:xfrm>
            <a:off x="4619625" y="2143125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593"/>
          </a:bodyPr>
          <a:lstStyle/>
          <a:p>
            <a:pPr algn="ctr">
              <a:buNone/>
              <a:defRPr sz="165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Servicio de scoring compartido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0B5C4C-A67D-477C-B189-6E495DABC3A0}"/>
              </a:ext>
            </a:extLst>
          </p:cNvPr>
          <p:cNvSpPr>
            <a:spLocks noGrp="1"/>
          </p:cNvSpPr>
          <p:nvPr/>
        </p:nvSpPr>
        <p:spPr>
          <a:xfrm>
            <a:off x="4810125" y="2714625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ctr"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Validación del contrato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0213E75-9DAF-4C57-842E-1DFB228CFA51}"/>
              </a:ext>
            </a:extLst>
          </p:cNvPr>
          <p:cNvSpPr>
            <a:spLocks noGrp="1"/>
          </p:cNvSpPr>
          <p:nvPr/>
        </p:nvSpPr>
        <p:spPr>
          <a:xfrm>
            <a:off x="4714875" y="3162300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873"/>
          </a:bodyPr>
          <a:lstStyle/>
          <a:p>
            <a:pPr algn="ctr"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Preparación versionada de variables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FAB7CE2-A07F-42E9-A1D3-839E84778A99}"/>
              </a:ext>
            </a:extLst>
          </p:cNvPr>
          <p:cNvSpPr>
            <a:spLocks noGrp="1"/>
          </p:cNvSpPr>
          <p:nvPr/>
        </p:nvSpPr>
        <p:spPr>
          <a:xfrm>
            <a:off x="4810125" y="3676650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Modelo @Champion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BBA4F07-CF6F-40D6-BB02-2006F25FFB80}"/>
              </a:ext>
            </a:extLst>
          </p:cNvPr>
          <p:cNvSpPr>
            <a:spLocks noGrp="1"/>
          </p:cNvSpPr>
          <p:nvPr/>
        </p:nvSpPr>
        <p:spPr>
          <a:xfrm>
            <a:off x="4762500" y="4143375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ctr">
              <a:buNone/>
              <a:defRPr sz="12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Umbrales y reglas operativas</a:t>
            </a:r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14E15964-4EF9-461B-884B-F81F44968A9D}"/>
              </a:ext>
            </a:extLst>
          </p:cNvPr>
          <p:cNvSpPr>
            <a:spLocks noGrp="1"/>
          </p:cNvSpPr>
          <p:nvPr/>
        </p:nvSpPr>
        <p:spPr>
          <a:xfrm>
            <a:off x="8096250" y="3143250"/>
            <a:ext cx="514350" cy="323850"/>
          </a:xfrm>
          <a:prstGeom prst="rightArrow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7F41EE2-AA0D-4CF6-9C88-2BE3651CBB31}"/>
              </a:ext>
            </a:extLst>
          </p:cNvPr>
          <p:cNvSpPr>
            <a:spLocks noGrp="1"/>
          </p:cNvSpPr>
          <p:nvPr/>
        </p:nvSpPr>
        <p:spPr>
          <a:xfrm>
            <a:off x="8858250" y="1714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952"/>
          </a:bodyPr>
          <a:lstStyle/>
          <a:p>
            <a:pPr>
              <a:buNone/>
              <a:defRPr sz="157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Respuesta estable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6156469-0A77-42B1-BB29-BB67973A6882}"/>
              </a:ext>
            </a:extLst>
          </p:cNvPr>
          <p:cNvSpPr>
            <a:spLocks noGrp="1"/>
          </p:cNvSpPr>
          <p:nvPr/>
        </p:nvSpPr>
        <p:spPr>
          <a:xfrm>
            <a:off x="8763000" y="2143125"/>
            <a:ext cx="2800350" cy="2428875"/>
          </a:xfrm>
          <a:prstGeom prst="rect">
            <a:avLst/>
          </a:prstGeom>
          <a:solidFill>
            <a:srgbClr val="F0F3F5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E79117A-1781-498B-94E1-DA7020EFC781}"/>
              </a:ext>
            </a:extLst>
          </p:cNvPr>
          <p:cNvSpPr>
            <a:spLocks noGrp="1"/>
          </p:cNvSpPr>
          <p:nvPr/>
        </p:nvSpPr>
        <p:spPr>
          <a:xfrm>
            <a:off x="9001125" y="2324100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12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42E"/>
                </a:solidFill>
                <a:latin typeface="Arial"/>
                <a:ea typeface="Arial"/>
                <a:cs typeface="Arial"/>
              </a:rPr>
              <a:t>score_fraude y nivel_riesgo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C9273FA-4E2F-4D14-B46B-D557517F675B}"/>
              </a:ext>
            </a:extLst>
          </p:cNvPr>
          <p:cNvSpPr>
            <a:spLocks noGrp="1"/>
          </p:cNvSpPr>
          <p:nvPr/>
        </p:nvSpPr>
        <p:spPr>
          <a:xfrm>
            <a:off x="9001125" y="2705100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12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42E"/>
                </a:solidFill>
                <a:latin typeface="Arial"/>
                <a:ea typeface="Arial"/>
                <a:cs typeface="Arial"/>
              </a:rPr>
              <a:t>accion_sugerida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9CDBD72-DCD2-4E83-A92E-AB47A340CC62}"/>
              </a:ext>
            </a:extLst>
          </p:cNvPr>
          <p:cNvSpPr>
            <a:spLocks noGrp="1"/>
          </p:cNvSpPr>
          <p:nvPr/>
        </p:nvSpPr>
        <p:spPr>
          <a:xfrm>
            <a:off x="9001125" y="3086100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12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42E"/>
                </a:solidFill>
                <a:latin typeface="Arial"/>
                <a:ea typeface="Arial"/>
                <a:cs typeface="Arial"/>
              </a:rPr>
              <a:t>model_name y model_version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978B454-9998-43EC-BDBA-2E96924338D1}"/>
              </a:ext>
            </a:extLst>
          </p:cNvPr>
          <p:cNvSpPr>
            <a:spLocks noGrp="1"/>
          </p:cNvSpPr>
          <p:nvPr/>
        </p:nvSpPr>
        <p:spPr>
          <a:xfrm>
            <a:off x="9001125" y="3467100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12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42E"/>
                </a:solidFill>
                <a:latin typeface="Arial"/>
                <a:ea typeface="Arial"/>
                <a:cs typeface="Arial"/>
              </a:rPr>
              <a:t>trace_id y scoring_status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0812A36-5978-4369-9166-5641D3794FF5}"/>
              </a:ext>
            </a:extLst>
          </p:cNvPr>
          <p:cNvSpPr>
            <a:spLocks noGrp="1"/>
          </p:cNvSpPr>
          <p:nvPr/>
        </p:nvSpPr>
        <p:spPr>
          <a:xfrm>
            <a:off x="9001125" y="3848100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12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42E"/>
                </a:solidFill>
                <a:latin typeface="Arial"/>
                <a:ea typeface="Arial"/>
                <a:cs typeface="Arial"/>
              </a:rPr>
              <a:t>reason_code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3DC8FBA-7872-42EC-BA0B-92A4759DE9AE}"/>
              </a:ext>
            </a:extLst>
          </p:cNvPr>
          <p:cNvSpPr>
            <a:spLocks noGrp="1"/>
          </p:cNvSpPr>
          <p:nvPr/>
        </p:nvSpPr>
        <p:spPr>
          <a:xfrm>
            <a:off x="1066800" y="5191125"/>
            <a:ext cx="10048875" cy="59055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FCCC5CA-9F8A-49E8-87F2-784C64FE7682}"/>
              </a:ext>
            </a:extLst>
          </p:cNvPr>
          <p:cNvSpPr>
            <a:spLocks noGrp="1"/>
          </p:cNvSpPr>
          <p:nvPr/>
        </p:nvSpPr>
        <p:spPr>
          <a:xfrm>
            <a:off x="1381125" y="5324475"/>
            <a:ext cx="93821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Batch persiste el resultado. La API responde en línea. El significado del score permanece igual.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2C34E2E-1228-41BA-98C4-0443D3BDA026}"/>
              </a:ext>
            </a:extLst>
          </p:cNvPr>
          <p:cNvSpPr>
            <a:spLocks noGrp="1"/>
          </p:cNvSpPr>
          <p:nvPr/>
        </p:nvSpPr>
        <p:spPr>
          <a:xfrm>
            <a:off x="1476375" y="6096000"/>
            <a:ext cx="9239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buNone/>
              <a:defRPr sz="90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D6B75"/>
                </a:solidFill>
                <a:latin typeface="Arial"/>
                <a:ea typeface="Arial"/>
                <a:cs typeface="Arial"/>
              </a:rPr>
              <a:t>Evidencia completa: 06_consumo_score_batch_api.html y 03_cola_investigacion_fraude.csv</a:t>
            </a:r>
          </a:p>
        </p:txBody>
      </p:sp>
    </p:spTree>
    <p:extLst>
      <p:ext uri="{BB962C8B-B14F-4D97-AF65-F5344CB8AC3E}">
        <p14:creationId xmlns:p14="http://schemas.microsoft.com/office/powerpoint/2010/main" val="971888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9C8529B0-E871-43F6-9A5F-11C640CE87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B92E306-AF35-4E08-823D-0C637B1868B2}"/>
              </a:ext>
            </a:extLst>
          </p:cNvPr>
          <p:cNvSpPr>
            <a:spLocks noGrp="1"/>
          </p:cNvSpPr>
          <p:nvPr/>
        </p:nvSpPr>
        <p:spPr>
          <a:xfrm>
            <a:off x="495300" y="2571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>
              <a:buNone/>
              <a:defRPr sz="82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Ejercicio 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18C5823-1027-49E9-A691-B207F7560CE5}"/>
              </a:ext>
            </a:extLst>
          </p:cNvPr>
          <p:cNvSpPr>
            <a:spLocks noGrp="1"/>
          </p:cNvSpPr>
          <p:nvPr/>
        </p:nvSpPr>
        <p:spPr>
          <a:xfrm>
            <a:off x="11239500" y="247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900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64E35F5-8ED8-4ED4-85E6-8993AF08ECAA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550" b="1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E"/>
                </a:solidFill>
                <a:latin typeface="Arial"/>
                <a:ea typeface="Arial"/>
                <a:cs typeface="Arial"/>
              </a:rPr>
              <a:t>Champion desacopla al consumidor de la versión física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5809C78-C8F2-4206-A805-BC784D3CCDC6}"/>
              </a:ext>
            </a:extLst>
          </p:cNvPr>
          <p:cNvSpPr>
            <a:spLocks noGrp="1"/>
          </p:cNvSpPr>
          <p:nvPr/>
        </p:nvSpPr>
        <p:spPr>
          <a:xfrm>
            <a:off x="514350" y="11144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B75"/>
                </a:solidFill>
                <a:latin typeface="Arial"/>
                <a:ea typeface="Arial"/>
                <a:cs typeface="Arial"/>
              </a:rPr>
              <a:t>Promoción y rollback cambian la versión detrás de una URI estable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07397B1-296E-4406-A048-86B908E6A75A}"/>
              </a:ext>
            </a:extLst>
          </p:cNvPr>
          <p:cNvSpPr>
            <a:spLocks noGrp="1"/>
          </p:cNvSpPr>
          <p:nvPr/>
        </p:nvSpPr>
        <p:spPr>
          <a:xfrm>
            <a:off x="495300" y="652462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>
              <a:buNone/>
              <a:defRPr sz="6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D6B75"/>
                </a:solidFill>
                <a:latin typeface="Arial"/>
                <a:ea typeface="Arial"/>
                <a:cs typeface="Arial"/>
              </a:rPr>
              <a:t>Prueba complementaria de Machine Learning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34E9D74-A42C-404C-9F3B-C0541E7396C1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>
              <a:buNone/>
              <a:defRPr sz="150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Referencia utilizada por los consumidores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9CC0964-8DC1-48F2-98A8-5ECCB2FEBBB8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10763250" cy="704850"/>
          </a:xfrm>
          <a:prstGeom prst="rect">
            <a:avLst/>
          </a:prstGeom>
          <a:solidFill>
            <a:srgbClr val="E4F1F0"/>
          </a:solidFill>
          <a:ln w="19050">
            <a:solidFill>
              <a:srgbClr val="0B6E75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78B3990-8A79-4B84-8572-9D9B2FD253A1}"/>
              </a:ext>
            </a:extLst>
          </p:cNvPr>
          <p:cNvSpPr>
            <a:spLocks noGrp="1"/>
          </p:cNvSpPr>
          <p:nvPr/>
        </p:nvSpPr>
        <p:spPr>
          <a:xfrm>
            <a:off x="1047750" y="2314575"/>
            <a:ext cx="1000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24"/>
          </a:bodyPr>
          <a:lstStyle/>
          <a:p>
            <a:pPr algn="ctr">
              <a:buNone/>
              <a:defRPr sz="165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models:/workspace.fraude_prod.fraude_random_forest@Champion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5478CEF-E928-4573-B37F-C0D5D6D57308}"/>
              </a:ext>
            </a:extLst>
          </p:cNvPr>
          <p:cNvSpPr>
            <a:spLocks noGrp="1"/>
          </p:cNvSpPr>
          <p:nvPr/>
        </p:nvSpPr>
        <p:spPr>
          <a:xfrm>
            <a:off x="904875" y="3429000"/>
            <a:ext cx="2381250" cy="1066800"/>
          </a:xfrm>
          <a:prstGeom prst="rect">
            <a:avLst/>
          </a:prstGeom>
          <a:solidFill>
            <a:srgbClr val="E8EEF4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7DCC1B6-B524-4E79-BD20-D6686AD93627}"/>
              </a:ext>
            </a:extLst>
          </p:cNvPr>
          <p:cNvSpPr>
            <a:spLocks noGrp="1"/>
          </p:cNvSpPr>
          <p:nvPr/>
        </p:nvSpPr>
        <p:spPr>
          <a:xfrm>
            <a:off x="904875" y="3429000"/>
            <a:ext cx="66675" cy="10668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54C06E7-2F60-4059-98E7-6E0237DE856E}"/>
              </a:ext>
            </a:extLst>
          </p:cNvPr>
          <p:cNvSpPr>
            <a:spLocks noGrp="1"/>
          </p:cNvSpPr>
          <p:nvPr/>
        </p:nvSpPr>
        <p:spPr>
          <a:xfrm>
            <a:off x="1095375" y="3543300"/>
            <a:ext cx="20574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Estado inicial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5FCBC44-CF74-4635-AF5A-5FB4F90E36BB}"/>
              </a:ext>
            </a:extLst>
          </p:cNvPr>
          <p:cNvSpPr>
            <a:spLocks noGrp="1"/>
          </p:cNvSpPr>
          <p:nvPr/>
        </p:nvSpPr>
        <p:spPr>
          <a:xfrm>
            <a:off x="1095375" y="3829050"/>
            <a:ext cx="2057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Champion apunta a v1</a:t>
            </a: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E98BE1DE-56CF-47EB-AD2C-7A8A3C1C4BB6}"/>
              </a:ext>
            </a:extLst>
          </p:cNvPr>
          <p:cNvSpPr>
            <a:spLocks noGrp="1"/>
          </p:cNvSpPr>
          <p:nvPr/>
        </p:nvSpPr>
        <p:spPr>
          <a:xfrm>
            <a:off x="3524250" y="3800475"/>
            <a:ext cx="666750" cy="323850"/>
          </a:xfrm>
          <a:prstGeom prst="rightArrow">
            <a:avLst/>
          </a:prstGeom>
          <a:solidFill>
            <a:srgbClr val="A76A12"/>
          </a:solidFill>
          <a:ln w="0">
            <a:solidFill>
              <a:srgbClr val="A76A12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022C8BC-2EF2-4591-B172-CD29FC82BD1D}"/>
              </a:ext>
            </a:extLst>
          </p:cNvPr>
          <p:cNvSpPr>
            <a:spLocks noGrp="1"/>
          </p:cNvSpPr>
          <p:nvPr/>
        </p:nvSpPr>
        <p:spPr>
          <a:xfrm>
            <a:off x="4429125" y="3429000"/>
            <a:ext cx="2857500" cy="1066800"/>
          </a:xfrm>
          <a:prstGeom prst="rect">
            <a:avLst/>
          </a:prstGeom>
          <a:solidFill>
            <a:srgbClr val="F7EEDC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740EB9D-E21B-469C-AD01-C03453CADAB0}"/>
              </a:ext>
            </a:extLst>
          </p:cNvPr>
          <p:cNvSpPr>
            <a:spLocks noGrp="1"/>
          </p:cNvSpPr>
          <p:nvPr/>
        </p:nvSpPr>
        <p:spPr>
          <a:xfrm>
            <a:off x="4429125" y="3429000"/>
            <a:ext cx="66675" cy="1066800"/>
          </a:xfrm>
          <a:prstGeom prst="rect">
            <a:avLst/>
          </a:prstGeom>
          <a:solidFill>
            <a:srgbClr val="A76A12"/>
          </a:solidFill>
          <a:ln w="0">
            <a:solidFill>
              <a:srgbClr val="A76A12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A82A3CC-5013-4724-BCD8-4A462861FFF7}"/>
              </a:ext>
            </a:extLst>
          </p:cNvPr>
          <p:cNvSpPr>
            <a:spLocks noGrp="1"/>
          </p:cNvSpPr>
          <p:nvPr/>
        </p:nvSpPr>
        <p:spPr>
          <a:xfrm>
            <a:off x="4619625" y="3543300"/>
            <a:ext cx="25336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Promoción controlada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4E2109F-C338-4C8D-BA1B-CFB132DB5E40}"/>
              </a:ext>
            </a:extLst>
          </p:cNvPr>
          <p:cNvSpPr>
            <a:spLocks noGrp="1"/>
          </p:cNvSpPr>
          <p:nvPr/>
        </p:nvSpPr>
        <p:spPr>
          <a:xfrm>
            <a:off x="4619625" y="3829050"/>
            <a:ext cx="25336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Champion pasa a v2</a:t>
            </a:r>
          </a:p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sin cambiar el consumidor</a:t>
            </a: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2E259856-8B17-4F61-B1FA-E28F8FFBDB26}"/>
              </a:ext>
            </a:extLst>
          </p:cNvPr>
          <p:cNvSpPr>
            <a:spLocks noGrp="1"/>
          </p:cNvSpPr>
          <p:nvPr/>
        </p:nvSpPr>
        <p:spPr>
          <a:xfrm>
            <a:off x="7524750" y="3800475"/>
            <a:ext cx="666750" cy="323850"/>
          </a:xfrm>
          <a:prstGeom prst="rightArrow">
            <a:avLst/>
          </a:prstGeom>
          <a:solidFill>
            <a:srgbClr val="B74343"/>
          </a:solidFill>
          <a:ln w="0">
            <a:solidFill>
              <a:srgbClr val="B74343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C53DC7A-0CB8-4A3F-BCDB-324385C92F70}"/>
              </a:ext>
            </a:extLst>
          </p:cNvPr>
          <p:cNvSpPr>
            <a:spLocks noGrp="1"/>
          </p:cNvSpPr>
          <p:nvPr/>
        </p:nvSpPr>
        <p:spPr>
          <a:xfrm>
            <a:off x="8429625" y="3429000"/>
            <a:ext cx="2762250" cy="1066800"/>
          </a:xfrm>
          <a:prstGeom prst="rect">
            <a:avLst/>
          </a:prstGeom>
          <a:solidFill>
            <a:srgbClr val="F7EAEA"/>
          </a:solidFill>
          <a:ln w="9525">
            <a:solidFill>
              <a:srgbClr val="D9E1E6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11117E2-4139-4869-A281-57F86B31DF4D}"/>
              </a:ext>
            </a:extLst>
          </p:cNvPr>
          <p:cNvSpPr>
            <a:spLocks noGrp="1"/>
          </p:cNvSpPr>
          <p:nvPr/>
        </p:nvSpPr>
        <p:spPr>
          <a:xfrm>
            <a:off x="8429625" y="3429000"/>
            <a:ext cx="66675" cy="1066800"/>
          </a:xfrm>
          <a:prstGeom prst="rect">
            <a:avLst/>
          </a:prstGeom>
          <a:solidFill>
            <a:srgbClr val="B74343"/>
          </a:solidFill>
          <a:ln w="0">
            <a:solidFill>
              <a:srgbClr val="B74343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80D0948-C5DC-48B5-A3E1-27C3A6FE11E6}"/>
              </a:ext>
            </a:extLst>
          </p:cNvPr>
          <p:cNvSpPr>
            <a:spLocks noGrp="1"/>
          </p:cNvSpPr>
          <p:nvPr/>
        </p:nvSpPr>
        <p:spPr>
          <a:xfrm>
            <a:off x="8620125" y="3543300"/>
            <a:ext cx="24384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Rollback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57E5E60-9804-4757-8000-751E7F82DA86}"/>
              </a:ext>
            </a:extLst>
          </p:cNvPr>
          <p:cNvSpPr>
            <a:spLocks noGrp="1"/>
          </p:cNvSpPr>
          <p:nvPr/>
        </p:nvSpPr>
        <p:spPr>
          <a:xfrm>
            <a:off x="8620125" y="3829050"/>
            <a:ext cx="2438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Champion vuelve a v1</a:t>
            </a:r>
          </a:p>
          <a:p>
            <a:pPr>
              <a:buNone/>
              <a:defRPr sz="9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17242E"/>
                </a:solidFill>
                <a:latin typeface="Arial"/>
                <a:ea typeface="Arial"/>
                <a:cs typeface="Arial"/>
              </a:rPr>
              <a:t>v2 conserva su historial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7EAB833-824A-4D3A-81CB-764AD280CCCD}"/>
              </a:ext>
            </a:extLst>
          </p:cNvPr>
          <p:cNvSpPr>
            <a:spLocks noGrp="1"/>
          </p:cNvSpPr>
          <p:nvPr/>
        </p:nvSpPr>
        <p:spPr>
          <a:xfrm>
            <a:off x="1381125" y="5048250"/>
            <a:ext cx="9429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buNone/>
              <a:defRPr sz="1350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42E"/>
                </a:solidFill>
                <a:latin typeface="Arial"/>
                <a:ea typeface="Arial"/>
                <a:cs typeface="Arial"/>
              </a:rPr>
              <a:t>El contrato registra model_version y trace_id, por lo que cada resultado sigue siendo reconstruible y auditable.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021088A-D8DC-4933-90B8-EE9382A6C659}"/>
              </a:ext>
            </a:extLst>
          </p:cNvPr>
          <p:cNvSpPr>
            <a:spLocks noGrp="1"/>
          </p:cNvSpPr>
          <p:nvPr/>
        </p:nvSpPr>
        <p:spPr>
          <a:xfrm>
            <a:off x="1476375" y="6096000"/>
            <a:ext cx="9239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buNone/>
              <a:defRPr sz="90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D6B75"/>
                </a:solidFill>
                <a:latin typeface="Arial"/>
                <a:ea typeface="Arial"/>
                <a:cs typeface="Arial"/>
              </a:rPr>
              <a:t>Evidencia completa: 04_mlops_gobierno_modelo.html y 06_consumo_score_batch_api.html</a:t>
            </a:r>
          </a:p>
        </p:txBody>
      </p:sp>
    </p:spTree>
    <p:extLst>
      <p:ext uri="{BB962C8B-B14F-4D97-AF65-F5344CB8AC3E}">
        <p14:creationId xmlns:p14="http://schemas.microsoft.com/office/powerpoint/2010/main" val="420980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0786A4C3-CC9C-4609-8233-5E85150B13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73B57"/>
          </a:solidFill>
          <a:ln w="0">
            <a:solidFill>
              <a:srgbClr val="173B57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49A9E1F-B47E-4092-81ED-0DD883AD6C05}"/>
              </a:ext>
            </a:extLst>
          </p:cNvPr>
          <p:cNvSpPr>
            <a:spLocks noGrp="1"/>
          </p:cNvSpPr>
          <p:nvPr/>
        </p:nvSpPr>
        <p:spPr>
          <a:xfrm>
            <a:off x="495300" y="257175"/>
            <a:ext cx="2476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>
              <a:buNone/>
              <a:defRPr sz="825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C67F0A0-C9BF-4252-AB0F-488373F88C43}"/>
              </a:ext>
            </a:extLst>
          </p:cNvPr>
          <p:cNvSpPr>
            <a:spLocks noGrp="1"/>
          </p:cNvSpPr>
          <p:nvPr/>
        </p:nvSpPr>
        <p:spPr>
          <a:xfrm>
            <a:off x="11239500" y="247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buNone/>
              <a:defRPr sz="900" b="1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B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E37C4F4-1891-421E-B766-B537B5493D62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550" b="1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2E"/>
                </a:solidFill>
                <a:latin typeface="Arial"/>
                <a:ea typeface="Arial"/>
                <a:cs typeface="Arial"/>
              </a:rPr>
              <a:t>La arquitectura conecta el modelo con una decisión controlada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A1A9BE-6099-4A5C-B955-317018A9BA4F}"/>
              </a:ext>
            </a:extLst>
          </p:cNvPr>
          <p:cNvSpPr>
            <a:spLocks noGrp="1"/>
          </p:cNvSpPr>
          <p:nvPr/>
        </p:nvSpPr>
        <p:spPr>
          <a:xfrm>
            <a:off x="514350" y="11144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B75"/>
                </a:solidFill>
                <a:latin typeface="Arial"/>
                <a:ea typeface="Arial"/>
                <a:cs typeface="Arial"/>
              </a:rPr>
              <a:t>La implementación respalda los conceptos y queda disponible para revisión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E22C75B-EC6B-460E-802F-6CF24DC4BB51}"/>
              </a:ext>
            </a:extLst>
          </p:cNvPr>
          <p:cNvSpPr>
            <a:spLocks noGrp="1"/>
          </p:cNvSpPr>
          <p:nvPr/>
        </p:nvSpPr>
        <p:spPr>
          <a:xfrm>
            <a:off x="495300" y="6524625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>
              <a:buNone/>
              <a:defRPr sz="6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675">
                <a:solidFill>
                  <a:srgbClr val="5D6B75"/>
                </a:solidFill>
                <a:latin typeface="Arial"/>
                <a:ea typeface="Arial"/>
                <a:cs typeface="Arial"/>
              </a:rPr>
              <a:t>Prueba complementaria de Machine Learning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22FA685-1FE6-41CB-BA4D-437A4ECC572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14300" cy="4953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194FC5-7C32-450C-A5EB-3863F49E7CA1}"/>
              </a:ext>
            </a:extLst>
          </p:cNvPr>
          <p:cNvSpPr>
            <a:spLocks noGrp="1"/>
          </p:cNvSpPr>
          <p:nvPr/>
        </p:nvSpPr>
        <p:spPr>
          <a:xfrm>
            <a:off x="1047750" y="17907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702"/>
          </a:bodyPr>
          <a:lstStyle/>
          <a:p>
            <a:pPr>
              <a:buNone/>
              <a:defRPr sz="142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Puesta en producción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537D654-07B2-45D2-BBBE-61C9E9B88816}"/>
              </a:ext>
            </a:extLst>
          </p:cNvPr>
          <p:cNvSpPr>
            <a:spLocks noGrp="1"/>
          </p:cNvSpPr>
          <p:nvPr/>
        </p:nvSpPr>
        <p:spPr>
          <a:xfrm>
            <a:off x="3333750" y="1781175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42E"/>
                </a:solidFill>
                <a:latin typeface="Arial"/>
                <a:ea typeface="Arial"/>
                <a:cs typeface="Arial"/>
              </a:rPr>
              <a:t>Diseño desacoplado, escalable y observable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37E32ED-B994-443D-9CB9-421A7654AFF1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14300" cy="4953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19900A4-8356-4E73-B7F5-4C757C18B29B}"/>
              </a:ext>
            </a:extLst>
          </p:cNvPr>
          <p:cNvSpPr>
            <a:spLocks noGrp="1"/>
          </p:cNvSpPr>
          <p:nvPr/>
        </p:nvSpPr>
        <p:spPr>
          <a:xfrm>
            <a:off x="1047750" y="25717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702"/>
          </a:bodyPr>
          <a:lstStyle/>
          <a:p>
            <a:pPr>
              <a:buNone/>
              <a:defRPr sz="142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Gobierno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1494741-79E7-4646-9A72-68113A3B4E7E}"/>
              </a:ext>
            </a:extLst>
          </p:cNvPr>
          <p:cNvSpPr>
            <a:spLocks noGrp="1"/>
          </p:cNvSpPr>
          <p:nvPr/>
        </p:nvSpPr>
        <p:spPr>
          <a:xfrm>
            <a:off x="3333750" y="2562225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42E"/>
                </a:solidFill>
                <a:latin typeface="Arial"/>
                <a:ea typeface="Arial"/>
                <a:cs typeface="Arial"/>
              </a:rPr>
              <a:t>Versiones reproducibles, promoción controlada y rollback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112C15A-0208-4EA6-B651-3BC4446A1A11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114300" cy="495300"/>
          </a:xfrm>
          <a:prstGeom prst="rect">
            <a:avLst/>
          </a:prstGeom>
          <a:solidFill>
            <a:srgbClr val="0B6E75"/>
          </a:solidFill>
          <a:ln w="0">
            <a:solidFill>
              <a:srgbClr val="0B6E75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D19C0FD-D635-4758-A4DB-69B2B7D17598}"/>
              </a:ext>
            </a:extLst>
          </p:cNvPr>
          <p:cNvSpPr>
            <a:spLocks noGrp="1"/>
          </p:cNvSpPr>
          <p:nvPr/>
        </p:nvSpPr>
        <p:spPr>
          <a:xfrm>
            <a:off x="1047750" y="33528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702"/>
          </a:bodyPr>
          <a:lstStyle/>
          <a:p>
            <a:pPr>
              <a:buNone/>
              <a:defRPr sz="142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Operación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F9502A0-DB5C-4A75-B62F-BF9722CAD3C0}"/>
              </a:ext>
            </a:extLst>
          </p:cNvPr>
          <p:cNvSpPr>
            <a:spLocks noGrp="1"/>
          </p:cNvSpPr>
          <p:nvPr/>
        </p:nvSpPr>
        <p:spPr>
          <a:xfrm>
            <a:off x="3333750" y="3343275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42E"/>
                </a:solidFill>
                <a:latin typeface="Arial"/>
                <a:ea typeface="Arial"/>
                <a:cs typeface="Arial"/>
              </a:rPr>
              <a:t>Diagnóstico por capas y reentrenamiento basado en evidencia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B259FCD-79A8-48F7-8389-2DA317A753E7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114300" cy="495300"/>
          </a:xfrm>
          <a:prstGeom prst="rect">
            <a:avLst/>
          </a:prstGeom>
          <a:solidFill>
            <a:srgbClr val="A76A12"/>
          </a:solidFill>
          <a:ln w="0">
            <a:solidFill>
              <a:srgbClr val="A76A12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49E0C8E-3B30-465C-8CB0-101B2F87BAEB}"/>
              </a:ext>
            </a:extLst>
          </p:cNvPr>
          <p:cNvSpPr>
            <a:spLocks noGrp="1"/>
          </p:cNvSpPr>
          <p:nvPr/>
        </p:nvSpPr>
        <p:spPr>
          <a:xfrm>
            <a:off x="1047750" y="41338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702"/>
          </a:bodyPr>
          <a:lstStyle/>
          <a:p>
            <a:pPr>
              <a:buNone/>
              <a:defRPr sz="1425" b="1">
                <a:solidFill>
                  <a:srgbClr val="173B5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B57"/>
                </a:solidFill>
                <a:latin typeface="Arial"/>
                <a:ea typeface="Arial"/>
                <a:cs typeface="Arial"/>
              </a:rPr>
              <a:t>Consumo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DA0F641-7816-4E2B-B5A4-3010A7F4EBCA}"/>
              </a:ext>
            </a:extLst>
          </p:cNvPr>
          <p:cNvSpPr>
            <a:spLocks noGrp="1"/>
          </p:cNvSpPr>
          <p:nvPr/>
        </p:nvSpPr>
        <p:spPr>
          <a:xfrm>
            <a:off x="3333750" y="4124325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2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42E"/>
                </a:solidFill>
                <a:latin typeface="Arial"/>
                <a:ea typeface="Arial"/>
                <a:cs typeface="Arial"/>
              </a:rPr>
              <a:t>Batch y API bajo un contrato común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532BB1B-D366-4DE3-9CA7-B085BCEE8C76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429875" cy="857250"/>
          </a:xfrm>
          <a:prstGeom prst="rect">
            <a:avLst/>
          </a:prstGeom>
          <a:solidFill>
            <a:srgbClr val="E4F1F0"/>
          </a:solidFill>
          <a:ln w="9525">
            <a:solidFill>
              <a:srgbClr val="0B6E75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F07431D-7E5D-460E-8DE2-A2399FBCFCFF}"/>
              </a:ext>
            </a:extLst>
          </p:cNvPr>
          <p:cNvSpPr>
            <a:spLocks noGrp="1"/>
          </p:cNvSpPr>
          <p:nvPr/>
        </p:nvSpPr>
        <p:spPr>
          <a:xfrm>
            <a:off x="1047750" y="54102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00"/>
          </a:bodyPr>
          <a:lstStyle/>
          <a:p>
            <a:pPr>
              <a:buNone/>
              <a:defRPr sz="1500" b="1">
                <a:solidFill>
                  <a:srgbClr val="0B6E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6E75"/>
                </a:solidFill>
                <a:latin typeface="Arial"/>
                <a:ea typeface="Arial"/>
                <a:cs typeface="Arial"/>
              </a:rPr>
              <a:t>Repositorio de soporte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3DE231B-F72B-440F-94B6-A24ADD5006EC}"/>
              </a:ext>
            </a:extLst>
          </p:cNvPr>
          <p:cNvSpPr>
            <a:spLocks noGrp="1"/>
          </p:cNvSpPr>
          <p:nvPr/>
        </p:nvSpPr>
        <p:spPr>
          <a:xfrm>
            <a:off x="3667125" y="5362575"/>
            <a:ext cx="6953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765"/>
          </a:bodyPr>
          <a:lstStyle/>
          <a:p>
            <a:pPr algn="ctr">
              <a:buNone/>
              <a:defRPr sz="1275">
                <a:solidFill>
                  <a:srgbClr val="17242E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42E"/>
                </a:solidFill>
                <a:latin typeface="Arial"/>
                <a:ea typeface="Arial"/>
                <a:cs typeface="Arial"/>
              </a:rPr>
              <a:t>Incluye notebooks, tablas de control, pruebas, resultados y documentación para revisar la implementación con mayor detalle.</a:t>
            </a:r>
          </a:p>
        </p:txBody>
      </p:sp>
    </p:spTree>
    <p:extLst>
      <p:ext uri="{BB962C8B-B14F-4D97-AF65-F5344CB8AC3E}">
        <p14:creationId xmlns:p14="http://schemas.microsoft.com/office/powerpoint/2010/main" val="3717305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1906</Words>
  <Application>Microsoft Office PowerPoint</Application>
  <DocSecurity>0</DocSecurity>
  <PresentationFormat>Panorámica</PresentationFormat>
  <Paragraphs>369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John Byron Alzate</cp:lastModifiedBy>
  <cp:revision>1</cp:revision>
  <dcterms:created xsi:type="dcterms:W3CDTF">2026-09-20T20:39:03Z</dcterms:created>
  <dcterms:modified xsi:type="dcterms:W3CDTF">2026-09-21T01:23:52Z</dcterms:modified>
</cp:coreProperties>
</file>